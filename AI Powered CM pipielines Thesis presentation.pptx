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0"/>
  </p:notesMasterIdLst>
  <p:sldIdLst>
    <p:sldId id="256" r:id="rId5"/>
    <p:sldId id="257" r:id="rId6"/>
    <p:sldId id="303" r:id="rId7"/>
    <p:sldId id="258" r:id="rId8"/>
    <p:sldId id="305" r:id="rId9"/>
    <p:sldId id="261" r:id="rId10"/>
    <p:sldId id="306" r:id="rId11"/>
    <p:sldId id="260" r:id="rId12"/>
    <p:sldId id="307" r:id="rId13"/>
    <p:sldId id="262" r:id="rId14"/>
    <p:sldId id="270" r:id="rId15"/>
    <p:sldId id="271" r:id="rId16"/>
    <p:sldId id="272" r:id="rId17"/>
    <p:sldId id="273" r:id="rId18"/>
    <p:sldId id="274" r:id="rId19"/>
    <p:sldId id="275" r:id="rId20"/>
    <p:sldId id="263" r:id="rId21"/>
    <p:sldId id="276" r:id="rId22"/>
    <p:sldId id="277" r:id="rId23"/>
    <p:sldId id="278" r:id="rId24"/>
    <p:sldId id="279" r:id="rId25"/>
    <p:sldId id="264" r:id="rId26"/>
    <p:sldId id="281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3" r:id="rId38"/>
    <p:sldId id="291" r:id="rId39"/>
    <p:sldId id="294" r:id="rId40"/>
    <p:sldId id="292" r:id="rId41"/>
    <p:sldId id="295" r:id="rId42"/>
    <p:sldId id="296" r:id="rId43"/>
    <p:sldId id="297" r:id="rId44"/>
    <p:sldId id="299" r:id="rId45"/>
    <p:sldId id="300" r:id="rId46"/>
    <p:sldId id="301" r:id="rId47"/>
    <p:sldId id="304" r:id="rId48"/>
    <p:sldId id="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74A1"/>
    <a:srgbClr val="5D92CF"/>
    <a:srgbClr val="219800"/>
    <a:srgbClr val="00B01A"/>
    <a:srgbClr val="00B21A"/>
    <a:srgbClr val="003C4E"/>
    <a:srgbClr val="003A4C"/>
    <a:srgbClr val="0B1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242" autoAdjust="0"/>
  </p:normalViewPr>
  <p:slideViewPr>
    <p:cSldViewPr snapToGrid="0">
      <p:cViewPr>
        <p:scale>
          <a:sx n="75" d="100"/>
          <a:sy n="75" d="100"/>
        </p:scale>
        <p:origin x="189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DEE40-21C8-49ED-BD5B-A91310C404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D071A-5B76-4E73-84B0-239F5C808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4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D071A-5B76-4E73-84B0-239F5C8081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2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8253-C4A7-615F-DD3D-B44EDC80D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2C4A2-6CCE-94F0-FDA4-BBAC6F289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7CBD9-B99E-1ECA-1CAE-3C3AA8508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E785A-9BEB-BCF6-8705-5F887B14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0FBF-2B40-F70E-07EE-13C5D723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8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36B6-C0D9-6002-2AB4-402B0ED0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333CE-78EF-6181-FC4A-B3A97FB2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47433-8FD3-6AEA-107B-70EE7353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6DE52-DC42-766E-13BC-1A11866C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7ED4E-CDD5-4F89-D86D-39019BB8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0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D496-2F61-F79D-4A28-295CA27F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F622E-4535-01A0-50EF-E5981AA74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65E1A-8374-D079-7366-2D96A372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A8CE7-3509-B1D9-344E-A2529806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9E6C-F925-2358-CFF0-B439F295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CA58-0A84-076B-51E9-1869A333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1224-5F6D-93C8-2FE4-228C28877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B3C95-34E4-D5F7-F04C-10C34643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D9041-A26F-2EDF-001C-645CDC92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03249-BEB8-A6E5-5EF2-8AC485DB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1029B-0ED8-6D64-9244-100B9AEB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7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C087-674C-29CB-1A65-1855364E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79ACC-CDCA-F659-3A33-55BDA2637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E98FD-4400-C43B-1B4A-48137314E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26510-22A1-D594-5A72-5B9CD654B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6E4F5-0CDC-2FC8-3AF2-3C8FB9CD1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A30B8-AE92-0298-7A13-1BB903FC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B0213-5E1D-6FD0-52C7-D5BCBD16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CD0E6-BAE0-CEA7-DD7A-52E6623C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6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961C-089B-3FF5-983F-8A8C864E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EAB32-11CA-AF5B-ADC4-21479471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F5D5-4269-9C54-FB1F-9AFF7B65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DEC7E-AB5F-12A4-48E8-2343B941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2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039F6C-AB08-B036-A17C-19DC0F9B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1F0E-C5A2-923F-600F-6A192AF4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B1B49-0419-66E5-6DBB-F61B4146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8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F82B-8515-6C67-9BFC-B97E82A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69A8D-86CB-3C3C-FD82-EF1A149C0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E71EA-7AC7-D6E3-7DD3-7DEB3E016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90802-136C-075F-41DA-F3C4C04F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126A6-B1F7-CB78-ADF2-BD689966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DBFCD-0A87-E655-C048-A5E133A9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8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B0DD-80AF-1CCB-05E0-AE17D4CA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A8F68-8C13-4A2A-3562-2437A75CE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E0D3B-1A4E-F4F3-A2F0-47890D762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B8ABC-4742-0FA3-553B-7F690FAB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FA102-FE06-AAD1-C44F-1473D546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6E50D-1C44-5C7C-B368-0C21AB66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AA70-9A94-27C5-4693-2E55C105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67C6C-63F6-5974-AD92-3EBEA834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9CDC1-631D-B15A-036A-EE1477E7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4201E-BC01-3A0E-2FE3-CF6B3E9B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3CDE8-2B65-FB9B-51A7-0D351D86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6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624C2-6AB3-DA7C-4DD0-162EA9B93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6CBA5-007D-9E75-1702-91D26E903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2AAE1-5A9F-2155-91DE-AE54BC4D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FD3D2-0758-1D1E-B7C8-01B31C6D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8A29-B7F4-DBB8-419B-11528541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7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2111C-D349-6B02-ADD8-6524CCFF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65ADD-DC67-1398-26C7-A34A796F5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F869E-A251-29F2-89D8-A4822515D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01437-A55A-4C24-BA27-355E635EE60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A7FBC-0CC8-D463-FCC6-D2349D4F5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66327-3E0A-0FB4-B9E7-02141208E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DAFCF-2145-4D1C-AFEC-2B6F3257B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6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AD33-14AD-7B28-A639-3A07B34D1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126" y="1881187"/>
            <a:ext cx="6791864" cy="2387600"/>
          </a:xfrm>
        </p:spPr>
        <p:txBody>
          <a:bodyPr>
            <a:normAutofit fontScale="90000"/>
          </a:bodyPr>
          <a:lstStyle/>
          <a:p>
            <a:pPr algn="l"/>
            <a:r>
              <a:rPr lang="pl-PL" sz="3100" b="1" dirty="0">
                <a:solidFill>
                  <a:schemeClr val="accent1">
                    <a:lumMod val="50000"/>
                  </a:schemeClr>
                </a:solidFill>
              </a:rPr>
              <a:t>Implementing </a:t>
            </a:r>
            <a:br>
              <a:rPr lang="pl-PL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pl-PL" b="1" dirty="0">
                <a:solidFill>
                  <a:schemeClr val="accent1">
                    <a:lumMod val="50000"/>
                  </a:schemeClr>
                </a:solidFill>
              </a:rPr>
              <a:t>AI-Powered Content Management Pipelines</a:t>
            </a:r>
            <a:br>
              <a:rPr lang="pl-PL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pl-PL" sz="2700" b="1" dirty="0">
                <a:solidFill>
                  <a:schemeClr val="accent1">
                    <a:lumMod val="50000"/>
                  </a:schemeClr>
                </a:solidFill>
              </a:rPr>
              <a:t> for Infolep and InfoNTD Knowledge Platforms</a:t>
            </a:r>
            <a:endParaRPr lang="en-US" sz="27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5F5-00EF-375E-E9FD-41810FA2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126" y="5202238"/>
            <a:ext cx="3419556" cy="1655762"/>
          </a:xfrm>
        </p:spPr>
        <p:txBody>
          <a:bodyPr/>
          <a:lstStyle/>
          <a:p>
            <a:pPr algn="l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Hubert Perliński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25E2C3-607D-F0FF-C665-27E9E9E41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070" y="2555792"/>
            <a:ext cx="3603315" cy="140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91624CA-8459-1F7B-948B-CD90EF2A7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949" y="4479255"/>
            <a:ext cx="3419556" cy="136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6BCC902-48D1-E834-ACCB-3EA652313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358" y="616931"/>
            <a:ext cx="4021517" cy="141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58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3783-A788-4397-F2B5-39269741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" y="263525"/>
            <a:ext cx="10617200" cy="5111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The challenge of staying up to date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F76CA-4586-3EB5-BF67-234DA3711DC9}"/>
              </a:ext>
            </a:extLst>
          </p:cNvPr>
          <p:cNvSpPr txBox="1"/>
          <p:nvPr/>
        </p:nvSpPr>
        <p:spPr>
          <a:xfrm>
            <a:off x="811859" y="1655786"/>
            <a:ext cx="39814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800" b="1" dirty="0">
                <a:solidFill>
                  <a:schemeClr val="accent1">
                    <a:lumMod val="50000"/>
                  </a:schemeClr>
                </a:solidFill>
              </a:rPr>
              <a:t>1.5 million </a:t>
            </a: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new</a:t>
            </a: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entries anually</a:t>
            </a: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Inadequate seraching tools</a:t>
            </a: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Large noise to signal ratio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80F40D1A-3588-EB45-E68D-6247C5767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86" y="2851191"/>
            <a:ext cx="3038475" cy="1081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F5FF3E-3461-EA22-FF21-6C814ADBD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3A2293C-FF6F-99C5-9562-A84496FF3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01C88D9E-4E54-4B16-DAD1-78C0E2492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70E517A-BE40-39FE-9358-7B8C158B63D7}"/>
              </a:ext>
            </a:extLst>
          </p:cNvPr>
          <p:cNvCxnSpPr/>
          <p:nvPr/>
        </p:nvCxnSpPr>
        <p:spPr>
          <a:xfrm>
            <a:off x="5881688" y="1736869"/>
            <a:ext cx="0" cy="4391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24856A7-1F20-6CD8-BE7C-28B16A6FADC9}"/>
              </a:ext>
            </a:extLst>
          </p:cNvPr>
          <p:cNvSpPr/>
          <p:nvPr/>
        </p:nvSpPr>
        <p:spPr>
          <a:xfrm>
            <a:off x="5767388" y="3281243"/>
            <a:ext cx="657224" cy="933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135EC9CF-AF14-1F9E-8D3B-0656CD663B7E}"/>
              </a:ext>
            </a:extLst>
          </p:cNvPr>
          <p:cNvSpPr/>
          <p:nvPr/>
        </p:nvSpPr>
        <p:spPr>
          <a:xfrm>
            <a:off x="5729288" y="3398862"/>
            <a:ext cx="304800" cy="638175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0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77B5-8376-E823-7B2A-97637F6F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D21E98-2380-24E1-CA09-0A5E196516C5}"/>
              </a:ext>
            </a:extLst>
          </p:cNvPr>
          <p:cNvSpPr txBox="1"/>
          <p:nvPr/>
        </p:nvSpPr>
        <p:spPr>
          <a:xfrm>
            <a:off x="811859" y="1655786"/>
            <a:ext cx="39814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800" b="1" dirty="0">
                <a:solidFill>
                  <a:schemeClr val="accent1">
                    <a:lumMod val="50000"/>
                  </a:schemeClr>
                </a:solidFill>
              </a:rPr>
              <a:t>1.5 million </a:t>
            </a: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new</a:t>
            </a: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entries anually</a:t>
            </a: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Inadequate seraching tools</a:t>
            </a:r>
          </a:p>
          <a:p>
            <a:pPr algn="ctr"/>
            <a:endParaRPr lang="pl-PL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Large noise to signal ratio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DEF4F46-27DD-186F-0D51-0196C9A6E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86" y="2851191"/>
            <a:ext cx="3038475" cy="1081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AF8E4-9619-D9D1-1572-9545AD1BD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7025654-020F-878C-6250-7EB24E703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568F0B1B-9401-50C8-CF76-718F7A67F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B56074-0426-0BBF-6386-810C7DEF9FCE}"/>
              </a:ext>
            </a:extLst>
          </p:cNvPr>
          <p:cNvCxnSpPr/>
          <p:nvPr/>
        </p:nvCxnSpPr>
        <p:spPr>
          <a:xfrm>
            <a:off x="5881688" y="1736869"/>
            <a:ext cx="0" cy="4391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D4180-00F8-1612-34F8-4C5CE40732AC}"/>
              </a:ext>
            </a:extLst>
          </p:cNvPr>
          <p:cNvSpPr/>
          <p:nvPr/>
        </p:nvSpPr>
        <p:spPr>
          <a:xfrm>
            <a:off x="5767388" y="3281243"/>
            <a:ext cx="657224" cy="933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447810F-75C5-E25B-CBD1-CA0699B57EE5}"/>
              </a:ext>
            </a:extLst>
          </p:cNvPr>
          <p:cNvSpPr/>
          <p:nvPr/>
        </p:nvSpPr>
        <p:spPr>
          <a:xfrm>
            <a:off x="5729288" y="3398862"/>
            <a:ext cx="304800" cy="638175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87FA46-64FD-506D-726A-5AB2BD004B14}"/>
              </a:ext>
            </a:extLst>
          </p:cNvPr>
          <p:cNvSpPr txBox="1"/>
          <p:nvPr/>
        </p:nvSpPr>
        <p:spPr>
          <a:xfrm>
            <a:off x="7345212" y="1655786"/>
            <a:ext cx="39814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Domain-specific curated knowledge platforms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B281774C-75F2-4243-61CD-0F99F918A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749" y="3597106"/>
            <a:ext cx="1899831" cy="75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6B2B59CA-EEAF-0738-0AD3-23EF345A2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638" y="4919198"/>
            <a:ext cx="2127748" cy="82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E536886-BB50-79A2-A400-4CF42FCFF7B0}"/>
              </a:ext>
            </a:extLst>
          </p:cNvPr>
          <p:cNvGrpSpPr/>
          <p:nvPr/>
        </p:nvGrpSpPr>
        <p:grpSpPr>
          <a:xfrm>
            <a:off x="6804974" y="3545794"/>
            <a:ext cx="2431489" cy="1001201"/>
            <a:chOff x="6804974" y="3545794"/>
            <a:chExt cx="2431489" cy="100120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3F1C1AE-8BA0-1F00-F31F-C9A41AD02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4974" y="3545794"/>
              <a:ext cx="2431489" cy="1001201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0E37186-AF3B-5C01-CE93-0B5496B2D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50984" y="3666514"/>
              <a:ext cx="2226254" cy="791557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86F4CC9C-4967-FA35-C989-509D693DCB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974" y="5119370"/>
            <a:ext cx="2530963" cy="54668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42050C4-3F45-E51B-5CAE-2C9E56D5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" y="263525"/>
            <a:ext cx="10617200" cy="5111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The challenge of staying up to date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00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BA71B3-55ED-2D47-52B3-49BD14A6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" y="263525"/>
            <a:ext cx="10617200" cy="5111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Content curation is labour intensive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60A5F-FD5C-1B46-9F12-64BEABED5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F80BB8F-4A6A-DDD6-5C07-3FEE8587B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4F48E43-EB91-B320-4E2D-680BADE3A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446C631-BB8C-7FC9-9BD0-DF46C1DAE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8000"/>
                    </a14:imgEffect>
                    <a14:imgEffect>
                      <a14:brightnessContrast bright="13000" contras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910576"/>
            <a:ext cx="5520333" cy="368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A59B1E-1247-827A-66CA-4BF01860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6955059"/>
            <a:ext cx="11024452" cy="3039269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Background</a:t>
            </a:r>
          </a:p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set-up</a:t>
            </a:r>
          </a:p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Results</a:t>
            </a:r>
          </a:p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Tools made for Info Platforms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9AF13-674D-DA1E-11AF-B64BD8B6FD0E}"/>
              </a:ext>
            </a:extLst>
          </p:cNvPr>
          <p:cNvSpPr txBox="1"/>
          <p:nvPr/>
        </p:nvSpPr>
        <p:spPr>
          <a:xfrm>
            <a:off x="6096000" y="1610102"/>
            <a:ext cx="5934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accent1">
                    <a:lumMod val="50000"/>
                  </a:schemeClr>
                </a:solidFill>
              </a:rPr>
              <a:t>Could AI-based methods be applied to support the content management needs of the Info Platforms?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20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8B90-EA28-2ADD-F4A8-A45972DB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30754D-8DF2-153A-C220-2D79B7E2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" y="263525"/>
            <a:ext cx="10617200" cy="5111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chemeClr val="accent1">
                    <a:lumMod val="50000"/>
                  </a:schemeClr>
                </a:solidFill>
              </a:rPr>
              <a:t>Content curation is labour intensive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BEACA-90F7-B494-FE5E-9A5428C00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763B4D7-6583-CFF0-C1B6-56E4890EA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C5D1F49-115A-05DA-1D92-8D2DF7AB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8A2B839-86F1-1439-A7AD-C515C16E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8000"/>
                    </a14:imgEffect>
                    <a14:imgEffect>
                      <a14:brightnessContrast bright="13000" contras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910576"/>
            <a:ext cx="5520333" cy="368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A69797-70BA-F45C-D6A8-0C3B16E2E250}"/>
              </a:ext>
            </a:extLst>
          </p:cNvPr>
          <p:cNvSpPr txBox="1"/>
          <p:nvPr/>
        </p:nvSpPr>
        <p:spPr>
          <a:xfrm>
            <a:off x="6096000" y="1610102"/>
            <a:ext cx="5934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accent1">
                    <a:lumMod val="50000"/>
                  </a:schemeClr>
                </a:solidFill>
              </a:rPr>
              <a:t>Could AI-based methods be applied to support the content management needs of the Info Platforms?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C61D8-3ABF-CB9D-5324-EE6E11F6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119659"/>
            <a:ext cx="11024452" cy="3039269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Background</a:t>
            </a:r>
          </a:p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set-up</a:t>
            </a:r>
          </a:p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Results</a:t>
            </a:r>
          </a:p>
          <a:p>
            <a:pPr marL="514350" indent="-514350">
              <a:buAutoNum type="arabicPeriod"/>
            </a:pPr>
            <a:r>
              <a:rPr lang="pl-PL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Tools made for Info Platforms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9740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A13440-1469-6D0E-A8C0-906DE7915463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Many studies, few deployments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40267A-8918-2E5D-EC4C-B282D74D5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CF85A6BF-CC1E-068F-D6FE-4667CC2F4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7956097-F8E6-672B-DB56-4E7DBCA52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1E0FFD-5DE0-ED7B-C688-C79D8B6EF0FC}"/>
              </a:ext>
            </a:extLst>
          </p:cNvPr>
          <p:cNvSpPr/>
          <p:nvPr/>
        </p:nvSpPr>
        <p:spPr>
          <a:xfrm>
            <a:off x="268357" y="3001617"/>
            <a:ext cx="2146852" cy="11628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Biomedical publications classification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65B383-E7E8-E80F-726D-1F0499BE9D5F}"/>
              </a:ext>
            </a:extLst>
          </p:cNvPr>
          <p:cNvSpPr/>
          <p:nvPr/>
        </p:nvSpPr>
        <p:spPr>
          <a:xfrm>
            <a:off x="3873074" y="1105323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Traditional ML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6DF81B-B716-6F7B-2DAE-C44E80273F9E}"/>
              </a:ext>
            </a:extLst>
          </p:cNvPr>
          <p:cNvSpPr/>
          <p:nvPr/>
        </p:nvSpPr>
        <p:spPr>
          <a:xfrm>
            <a:off x="3873077" y="2423831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Transformers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5421F8-50BB-81FE-59B4-50E1492BC8D6}"/>
              </a:ext>
            </a:extLst>
          </p:cNvPr>
          <p:cNvSpPr/>
          <p:nvPr/>
        </p:nvSpPr>
        <p:spPr>
          <a:xfrm>
            <a:off x="3873076" y="3742339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Language Models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658FA8-0106-DB1D-DB7A-250727B8C2D2}"/>
              </a:ext>
            </a:extLst>
          </p:cNvPr>
          <p:cNvSpPr/>
          <p:nvPr/>
        </p:nvSpPr>
        <p:spPr>
          <a:xfrm>
            <a:off x="3873074" y="5060846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Hybrid approaches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8384CC-3D15-2475-382A-76164EDB5E28}"/>
              </a:ext>
            </a:extLst>
          </p:cNvPr>
          <p:cNvSpPr txBox="1"/>
          <p:nvPr/>
        </p:nvSpPr>
        <p:spPr>
          <a:xfrm>
            <a:off x="3873074" y="1616499"/>
            <a:ext cx="25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SVMs, RFs, XGBoost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Bag of words vectors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F2F6C2-1939-5606-56A1-37E3E55C1A1E}"/>
              </a:ext>
            </a:extLst>
          </p:cNvPr>
          <p:cNvSpPr txBox="1"/>
          <p:nvPr/>
        </p:nvSpPr>
        <p:spPr>
          <a:xfrm>
            <a:off x="3873074" y="2954126"/>
            <a:ext cx="25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BERT, BioBERT, SciBERT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Fine-tuning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9BBDD4-774C-BBB8-2564-C563CA493FBF}"/>
              </a:ext>
            </a:extLst>
          </p:cNvPr>
          <p:cNvSpPr txBox="1"/>
          <p:nvPr/>
        </p:nvSpPr>
        <p:spPr>
          <a:xfrm>
            <a:off x="3873073" y="4309306"/>
            <a:ext cx="25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GPTs, Gemini, LLaMA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Zero-shot classification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09702E-F7E8-543B-0AB4-306AFE4948E3}"/>
              </a:ext>
            </a:extLst>
          </p:cNvPr>
          <p:cNvSpPr txBox="1"/>
          <p:nvPr/>
        </p:nvSpPr>
        <p:spPr>
          <a:xfrm>
            <a:off x="3873073" y="5662198"/>
            <a:ext cx="2546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Ensembling, preprocessing,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prioritizing</a:t>
            </a:r>
          </a:p>
          <a:p>
            <a:endParaRPr lang="pl-PL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BA6D31-E66E-A63B-F6F6-5285A195BC93}"/>
              </a:ext>
            </a:extLst>
          </p:cNvPr>
          <p:cNvCxnSpPr/>
          <p:nvPr/>
        </p:nvCxnSpPr>
        <p:spPr>
          <a:xfrm>
            <a:off x="7249722" y="1685319"/>
            <a:ext cx="0" cy="4391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D6698C1-6CBD-9B80-3CC7-FF578B6DB73E}"/>
              </a:ext>
            </a:extLst>
          </p:cNvPr>
          <p:cNvSpPr/>
          <p:nvPr/>
        </p:nvSpPr>
        <p:spPr>
          <a:xfrm>
            <a:off x="7135422" y="3229693"/>
            <a:ext cx="657224" cy="933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CC1D3D52-F5CB-1174-6357-3CD2611ED9A4}"/>
              </a:ext>
            </a:extLst>
          </p:cNvPr>
          <p:cNvSpPr/>
          <p:nvPr/>
        </p:nvSpPr>
        <p:spPr>
          <a:xfrm>
            <a:off x="7097322" y="3347312"/>
            <a:ext cx="304800" cy="638175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13B8A2-77F2-0B6F-60D5-7DF08AEC9C0D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2415209" y="1360911"/>
            <a:ext cx="1457865" cy="2222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40C390-AEAA-F145-209E-798B8F62A0F2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2415209" y="2679419"/>
            <a:ext cx="1457868" cy="90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799F514-AAFC-8EDA-952C-F69F33BA6130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2415209" y="3583057"/>
            <a:ext cx="1457867" cy="41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87E2F8-8F04-0EEC-FD3C-C37B20B033CC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2415209" y="3583057"/>
            <a:ext cx="1457865" cy="173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13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9C4FA-A0BE-E69F-6018-4A77DBF2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3696C5B-D755-D9AA-89DD-A6D65941DF24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Many studies, few deployments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DE6D78-030A-A584-995B-CCFEE5F6A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9FB2157-32BA-9F4C-1C60-8C1AEB09C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165DB9F6-3AF4-1FFC-B2C3-07DED5D75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5CCE0D-2382-95BD-E7F3-B9578EEE14C7}"/>
              </a:ext>
            </a:extLst>
          </p:cNvPr>
          <p:cNvSpPr/>
          <p:nvPr/>
        </p:nvSpPr>
        <p:spPr>
          <a:xfrm>
            <a:off x="268357" y="3001617"/>
            <a:ext cx="2146852" cy="11628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Biomedical publications classification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72C8D-5ECA-DC7E-3E57-A81A6708435A}"/>
              </a:ext>
            </a:extLst>
          </p:cNvPr>
          <p:cNvSpPr/>
          <p:nvPr/>
        </p:nvSpPr>
        <p:spPr>
          <a:xfrm>
            <a:off x="3873074" y="1105323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Traditional ML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144DB4-0AFB-BC9B-2F03-87D16867FC25}"/>
              </a:ext>
            </a:extLst>
          </p:cNvPr>
          <p:cNvSpPr/>
          <p:nvPr/>
        </p:nvSpPr>
        <p:spPr>
          <a:xfrm>
            <a:off x="3873077" y="2423831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Transformers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52AC10-5754-8730-A378-4F7DA0166065}"/>
              </a:ext>
            </a:extLst>
          </p:cNvPr>
          <p:cNvSpPr/>
          <p:nvPr/>
        </p:nvSpPr>
        <p:spPr>
          <a:xfrm>
            <a:off x="3873076" y="3742339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Language Models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FA2B34-75B7-EB70-6A3C-47BF8FE7D38E}"/>
              </a:ext>
            </a:extLst>
          </p:cNvPr>
          <p:cNvSpPr/>
          <p:nvPr/>
        </p:nvSpPr>
        <p:spPr>
          <a:xfrm>
            <a:off x="3873074" y="5060846"/>
            <a:ext cx="2546377" cy="51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Hybrid approaches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3F596A-548B-503E-3A5D-3BD12A43E4E0}"/>
              </a:ext>
            </a:extLst>
          </p:cNvPr>
          <p:cNvSpPr txBox="1"/>
          <p:nvPr/>
        </p:nvSpPr>
        <p:spPr>
          <a:xfrm>
            <a:off x="3873074" y="1616499"/>
            <a:ext cx="25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SVMs, RFs, XGBoost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Bag of words vectors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3EF125-3FD8-6865-1BB9-F2BF2CA0E7DE}"/>
              </a:ext>
            </a:extLst>
          </p:cNvPr>
          <p:cNvSpPr txBox="1"/>
          <p:nvPr/>
        </p:nvSpPr>
        <p:spPr>
          <a:xfrm>
            <a:off x="3873074" y="2954126"/>
            <a:ext cx="25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BERT, BioBERT, SciBERT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Fine-tuning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1084422-D6BC-F716-1521-C89083285B0D}"/>
              </a:ext>
            </a:extLst>
          </p:cNvPr>
          <p:cNvGrpSpPr/>
          <p:nvPr/>
        </p:nvGrpSpPr>
        <p:grpSpPr>
          <a:xfrm>
            <a:off x="8520077" y="1360911"/>
            <a:ext cx="2431489" cy="1001201"/>
            <a:chOff x="6804974" y="3545794"/>
            <a:chExt cx="2431489" cy="100120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9EB8C91-A688-2E11-9A8E-BCC820EBD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4974" y="3545794"/>
              <a:ext cx="2431489" cy="1001201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FF2DA526-D127-483B-6221-782454E80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50984" y="3666514"/>
              <a:ext cx="2226254" cy="791557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FEED3A7-EBD1-68C1-6073-3404FE9683CF}"/>
              </a:ext>
            </a:extLst>
          </p:cNvPr>
          <p:cNvSpPr txBox="1"/>
          <p:nvPr/>
        </p:nvSpPr>
        <p:spPr>
          <a:xfrm>
            <a:off x="3873073" y="4309306"/>
            <a:ext cx="25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GPTs, Gemini, LLaMA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Zero-shot classification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AE0BC6-FDF1-7265-2074-D5711C2A1D08}"/>
              </a:ext>
            </a:extLst>
          </p:cNvPr>
          <p:cNvSpPr txBox="1"/>
          <p:nvPr/>
        </p:nvSpPr>
        <p:spPr>
          <a:xfrm>
            <a:off x="3873073" y="5662198"/>
            <a:ext cx="2546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Ensembling, preprocessing,</a:t>
            </a:r>
          </a:p>
          <a:p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prioritizing</a:t>
            </a:r>
          </a:p>
          <a:p>
            <a:endParaRPr lang="pl-PL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76F021-5978-4D2A-4787-7DEF4F996DE0}"/>
              </a:ext>
            </a:extLst>
          </p:cNvPr>
          <p:cNvCxnSpPr/>
          <p:nvPr/>
        </p:nvCxnSpPr>
        <p:spPr>
          <a:xfrm>
            <a:off x="7249722" y="1685319"/>
            <a:ext cx="0" cy="4391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1F8196A-4AC7-A624-D99F-73507ED07274}"/>
              </a:ext>
            </a:extLst>
          </p:cNvPr>
          <p:cNvSpPr/>
          <p:nvPr/>
        </p:nvSpPr>
        <p:spPr>
          <a:xfrm>
            <a:off x="7135422" y="3229693"/>
            <a:ext cx="657224" cy="933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3B0AEADB-D9FD-75A7-A538-BF5B8DF8D647}"/>
              </a:ext>
            </a:extLst>
          </p:cNvPr>
          <p:cNvSpPr/>
          <p:nvPr/>
        </p:nvSpPr>
        <p:spPr>
          <a:xfrm>
            <a:off x="7097322" y="3347312"/>
            <a:ext cx="304800" cy="638175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FF7B35-2907-23DC-89E6-659C14A0315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2415209" y="1360911"/>
            <a:ext cx="1457865" cy="2222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DB562D-B9CA-2B54-DD3C-4C699D14E9B2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2415209" y="2679419"/>
            <a:ext cx="1457868" cy="90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053EF9-DB4A-9CE4-0936-05FEF5DCE24C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2415209" y="3583057"/>
            <a:ext cx="1457867" cy="41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70D6C5-DE31-C126-9382-2A0CBE3A6C40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2415209" y="3583057"/>
            <a:ext cx="1457865" cy="173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70CB180-E389-988E-F0F1-5A3222A69258}"/>
              </a:ext>
            </a:extLst>
          </p:cNvPr>
          <p:cNvSpPr txBox="1"/>
          <p:nvPr/>
        </p:nvSpPr>
        <p:spPr>
          <a:xfrm>
            <a:off x="7628261" y="5893031"/>
            <a:ext cx="421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Chen et al. 2019, 2020, 2021,2022, 2025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4EA917-5BB3-E09B-8BF5-D500F12E495A}"/>
              </a:ext>
            </a:extLst>
          </p:cNvPr>
          <p:cNvSpPr txBox="1"/>
          <p:nvPr/>
        </p:nvSpPr>
        <p:spPr>
          <a:xfrm>
            <a:off x="7628261" y="2495991"/>
            <a:ext cx="4215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11.7k </a:t>
            </a:r>
          </a:p>
          <a:p>
            <a:pPr algn="ctr"/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papers added per month </a:t>
            </a:r>
          </a:p>
          <a:p>
            <a:pPr algn="ctr"/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at peak activity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6F1F47-444A-5962-C6C9-B4BDD20449B2}"/>
              </a:ext>
            </a:extLst>
          </p:cNvPr>
          <p:cNvSpPr txBox="1"/>
          <p:nvPr/>
        </p:nvSpPr>
        <p:spPr>
          <a:xfrm>
            <a:off x="7628260" y="4159076"/>
            <a:ext cx="421512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Scanning all of PubMed daily</a:t>
            </a:r>
          </a:p>
          <a:p>
            <a:pPr algn="ctr"/>
            <a:endParaRPr lang="pl-PL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l-PL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topics</a:t>
            </a:r>
          </a:p>
          <a:p>
            <a:pPr algn="ctr"/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84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1DCAEC-D6F7-F19B-8605-CBAD4571B721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Adapt to Info Platforms Context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22B07-111B-8B93-0442-4848298D1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2AA80355-EBA8-C8B6-E9D5-53BF047A9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E7B504AA-8585-75FA-DC48-0DC43C1E1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AFECA4-EB6F-5FFC-4C1A-36981003F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41" y="1411683"/>
            <a:ext cx="11257717" cy="1153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Inclusion task:</a:t>
            </a:r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Is the publication about NTDs?</a:t>
            </a:r>
          </a:p>
          <a:p>
            <a:pPr marL="0" indent="0">
              <a:buNone/>
            </a:pPr>
            <a:r>
              <a:rPr lang="pl-PL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Disease task:  </a:t>
            </a:r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Which out of the 19 NTDs is the publication about?</a:t>
            </a:r>
          </a:p>
          <a:p>
            <a:pPr marL="0" indent="0">
              <a:buNone/>
            </a:pPr>
            <a:endParaRPr lang="pl-PL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49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743C-1967-0B93-7E96-7D095D62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50C3D6B-8A38-7626-8C98-E23F82DEE237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Adapt to Info Platforms Context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B7D33-EAEA-492C-1724-9D589C441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72ECCFB-F7A5-3A20-DA7C-8BBD9D978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985C8862-E553-569C-41EA-9AAE2EEFD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8692CDB-6F9F-0F01-E9EE-50119B042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41" y="1411683"/>
            <a:ext cx="11257717" cy="1153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Inclusion task:</a:t>
            </a:r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Is the publication about NTDs?</a:t>
            </a:r>
          </a:p>
          <a:p>
            <a:pPr marL="0" indent="0">
              <a:buNone/>
            </a:pPr>
            <a:r>
              <a:rPr lang="pl-PL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Disease task:  </a:t>
            </a:r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Which out of the 19 NTDs is the publication about?</a:t>
            </a:r>
          </a:p>
          <a:p>
            <a:pPr marL="0" indent="0">
              <a:buNone/>
            </a:pPr>
            <a:endParaRPr lang="pl-PL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5CE32-177E-B031-54AB-2B480A974CD2}"/>
              </a:ext>
            </a:extLst>
          </p:cNvPr>
          <p:cNvSpPr txBox="1"/>
          <p:nvPr/>
        </p:nvSpPr>
        <p:spPr>
          <a:xfrm>
            <a:off x="562865" y="3151516"/>
            <a:ext cx="4686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l-PL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</a:t>
            </a:r>
            <a:r>
              <a:rPr lang="pl-PL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How could robust datasets be constrcuted for classifying NTD literature?</a:t>
            </a:r>
          </a:p>
          <a:p>
            <a:pPr marL="0" indent="0">
              <a:buNone/>
            </a:pPr>
            <a:endParaRPr lang="pl-PL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pl-PL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r>
              <a:rPr lang="pl-PL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</a:t>
            </a:r>
            <a:r>
              <a:rPr lang="pl-PL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How do different model types perform on the tasks?</a:t>
            </a:r>
          </a:p>
          <a:p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A1E376-6476-8B1B-1460-10426D5745AC}"/>
              </a:ext>
            </a:extLst>
          </p:cNvPr>
          <p:cNvSpPr txBox="1"/>
          <p:nvPr/>
        </p:nvSpPr>
        <p:spPr>
          <a:xfrm>
            <a:off x="6543381" y="3151516"/>
            <a:ext cx="51292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l-PL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RQ3: </a:t>
            </a:r>
            <a:r>
              <a:rPr lang="pl-PL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What are the error patterns?</a:t>
            </a:r>
          </a:p>
          <a:p>
            <a:pPr marL="0" indent="0">
              <a:buNone/>
            </a:pPr>
            <a:endParaRPr lang="pl-PL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pl-PL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pl-PL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pl-PL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r>
              <a:rPr lang="pl-PL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RQ4: </a:t>
            </a:r>
            <a:r>
              <a:rPr lang="pl-PL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How can the pipelines be integrated into a practical workflow?</a:t>
            </a:r>
            <a:endParaRPr lang="en-US" sz="2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77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7F8674-DBA1-384C-BB2E-E24E3BFABCCA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038A3-B4FA-4BEF-7275-4ECC9F829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12330ED-AFC7-3C8B-7ABC-712A33DFA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3044363-0E4D-3C1A-7D3B-B9110A99B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57281ECF-790A-6EDC-7401-63D02AD670C3}"/>
              </a:ext>
            </a:extLst>
          </p:cNvPr>
          <p:cNvSpPr/>
          <p:nvPr/>
        </p:nvSpPr>
        <p:spPr>
          <a:xfrm>
            <a:off x="1455687" y="1758215"/>
            <a:ext cx="3205213" cy="122240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Data Export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BD0EB0C0-3DDE-7C6D-BC2C-70AD019221EF}"/>
              </a:ext>
            </a:extLst>
          </p:cNvPr>
          <p:cNvSpPr/>
          <p:nvPr/>
        </p:nvSpPr>
        <p:spPr>
          <a:xfrm>
            <a:off x="7302950" y="1758215"/>
            <a:ext cx="3205213" cy="122240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2025 Annual Baseline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EA6EF-96BD-8501-7A4B-B644B53BAF1E}"/>
              </a:ext>
            </a:extLst>
          </p:cNvPr>
          <p:cNvSpPr txBox="1"/>
          <p:nvPr/>
        </p:nvSpPr>
        <p:spPr>
          <a:xfrm>
            <a:off x="828675" y="3429000"/>
            <a:ext cx="5095875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Infolep and InfoNTD backend April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39,070</a:t>
            </a:r>
            <a:r>
              <a:rPr lang="pl-PL" dirty="0"/>
              <a:t> unique publication with disease annotations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23,737 (61%) include abstracts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28EA11-E72E-01B6-8C03-52542A4F2768}"/>
              </a:ext>
            </a:extLst>
          </p:cNvPr>
          <p:cNvSpPr txBox="1"/>
          <p:nvPr/>
        </p:nvSpPr>
        <p:spPr>
          <a:xfrm>
            <a:off x="6280080" y="3429000"/>
            <a:ext cx="5250951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XML with all PubMed records until January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36.5 unique </a:t>
            </a:r>
            <a:r>
              <a:rPr lang="pl-PL" dirty="0"/>
              <a:t>million publications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25.3 million (69%) include abstracts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Contains MeSH terms (topic annotations)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13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FEB1-89BC-B06A-3D33-9D149580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0C3608-F3F9-9D45-5E3C-4DEBE78E24C9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07EB0-DFBB-0262-56AC-BA082CA7C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90A162D-9187-6CE7-50B4-2879A42EC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96C2E67-1239-C0F9-D2E5-8EBCE3EC7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40A95569-22F2-04BC-B054-588D2F2BD4E5}"/>
              </a:ext>
            </a:extLst>
          </p:cNvPr>
          <p:cNvSpPr/>
          <p:nvPr/>
        </p:nvSpPr>
        <p:spPr>
          <a:xfrm>
            <a:off x="886847" y="104194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Data Export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E17D9DB3-0D91-4CA0-33EA-8C36A5775F79}"/>
              </a:ext>
            </a:extLst>
          </p:cNvPr>
          <p:cNvSpPr/>
          <p:nvPr/>
        </p:nvSpPr>
        <p:spPr>
          <a:xfrm>
            <a:off x="6750500" y="104194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2025 Annual Baseline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02D364-99E0-4C2B-8664-79AA70E6895F}"/>
              </a:ext>
            </a:extLst>
          </p:cNvPr>
          <p:cNvSpPr/>
          <p:nvPr/>
        </p:nvSpPr>
        <p:spPr>
          <a:xfrm>
            <a:off x="1394079" y="234314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processed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09B36-7B29-8891-279C-2D13722AE0E6}"/>
              </a:ext>
            </a:extLst>
          </p:cNvPr>
          <p:cNvSpPr/>
          <p:nvPr/>
        </p:nvSpPr>
        <p:spPr>
          <a:xfrm>
            <a:off x="5049446" y="237172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250k sample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4459D2-2F8C-AF9A-A8E7-F81D59F783E1}"/>
              </a:ext>
            </a:extLst>
          </p:cNvPr>
          <p:cNvSpPr/>
          <p:nvPr/>
        </p:nvSpPr>
        <p:spPr>
          <a:xfrm>
            <a:off x="7528609" y="237172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400k sample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64312-5777-F934-37D3-2C92686ECF8E}"/>
              </a:ext>
            </a:extLst>
          </p:cNvPr>
          <p:cNvSpPr/>
          <p:nvPr/>
        </p:nvSpPr>
        <p:spPr>
          <a:xfrm>
            <a:off x="9886752" y="237172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NTD Mesh Terms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424CDE-ED5F-8C7A-D65A-319C3567AFF5}"/>
              </a:ext>
            </a:extLst>
          </p:cNvPr>
          <p:cNvCxnSpPr>
            <a:stCxn id="12" idx="3"/>
            <a:endCxn id="2" idx="0"/>
          </p:cNvCxnSpPr>
          <p:nvPr/>
        </p:nvCxnSpPr>
        <p:spPr>
          <a:xfrm>
            <a:off x="2489454" y="1819275"/>
            <a:ext cx="0" cy="52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26C8B9-C276-8759-140D-C093CECD8643}"/>
              </a:ext>
            </a:extLst>
          </p:cNvPr>
          <p:cNvCxnSpPr>
            <a:stCxn id="13" idx="3"/>
            <a:endCxn id="3" idx="0"/>
          </p:cNvCxnSpPr>
          <p:nvPr/>
        </p:nvCxnSpPr>
        <p:spPr>
          <a:xfrm flipH="1">
            <a:off x="5881553" y="1819275"/>
            <a:ext cx="2471554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AE817C-9A13-E1D3-3A89-BBBA10CA660D}"/>
              </a:ext>
            </a:extLst>
          </p:cNvPr>
          <p:cNvCxnSpPr>
            <a:stCxn id="13" idx="3"/>
            <a:endCxn id="8" idx="0"/>
          </p:cNvCxnSpPr>
          <p:nvPr/>
        </p:nvCxnSpPr>
        <p:spPr>
          <a:xfrm>
            <a:off x="8353107" y="1819275"/>
            <a:ext cx="7609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42F751-A170-FCB8-DF48-E68DDE1BF2F4}"/>
              </a:ext>
            </a:extLst>
          </p:cNvPr>
          <p:cNvCxnSpPr>
            <a:stCxn id="13" idx="3"/>
            <a:endCxn id="9" idx="0"/>
          </p:cNvCxnSpPr>
          <p:nvPr/>
        </p:nvCxnSpPr>
        <p:spPr>
          <a:xfrm>
            <a:off x="8353107" y="1819275"/>
            <a:ext cx="2365752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989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1DBA-EA34-76D2-6EBC-48917198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C980F3-995F-F7AD-DC12-77D77A4F7887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936C9-F434-799B-FF5C-7705867CD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A29F673-E651-103E-468E-87EC5E612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DD70F42-290A-A718-F0C0-F9FEE5BCD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6A7795D5-3F31-2E60-7EC4-42917BEA24E7}"/>
              </a:ext>
            </a:extLst>
          </p:cNvPr>
          <p:cNvSpPr/>
          <p:nvPr/>
        </p:nvSpPr>
        <p:spPr>
          <a:xfrm>
            <a:off x="886847" y="1184822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Data Export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30061807-2E0F-FA34-E30C-148AD4596E1D}"/>
              </a:ext>
            </a:extLst>
          </p:cNvPr>
          <p:cNvSpPr/>
          <p:nvPr/>
        </p:nvSpPr>
        <p:spPr>
          <a:xfrm>
            <a:off x="6750500" y="1184822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2025 Annual Baseline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464B2-5DAA-E91C-DF9D-2897B5DC7312}"/>
              </a:ext>
            </a:extLst>
          </p:cNvPr>
          <p:cNvSpPr/>
          <p:nvPr/>
        </p:nvSpPr>
        <p:spPr>
          <a:xfrm>
            <a:off x="1394079" y="2486024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processed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39989-9B85-C5A7-7BE4-E333F09CC24B}"/>
              </a:ext>
            </a:extLst>
          </p:cNvPr>
          <p:cNvSpPr/>
          <p:nvPr/>
        </p:nvSpPr>
        <p:spPr>
          <a:xfrm>
            <a:off x="5049446" y="2514600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250k sample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9D5B2F-2A05-F1DD-B9CA-DD8CD3A20D6C}"/>
              </a:ext>
            </a:extLst>
          </p:cNvPr>
          <p:cNvSpPr/>
          <p:nvPr/>
        </p:nvSpPr>
        <p:spPr>
          <a:xfrm>
            <a:off x="7528609" y="2514600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400k sample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22025-12C5-8253-03E6-2FADE281D2F8}"/>
              </a:ext>
            </a:extLst>
          </p:cNvPr>
          <p:cNvSpPr/>
          <p:nvPr/>
        </p:nvSpPr>
        <p:spPr>
          <a:xfrm>
            <a:off x="9886752" y="2514600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NTD Mesh Terms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7A8EC4-328E-B4B4-B480-486452C6C8AD}"/>
              </a:ext>
            </a:extLst>
          </p:cNvPr>
          <p:cNvCxnSpPr>
            <a:stCxn id="12" idx="3"/>
            <a:endCxn id="2" idx="0"/>
          </p:cNvCxnSpPr>
          <p:nvPr/>
        </p:nvCxnSpPr>
        <p:spPr>
          <a:xfrm>
            <a:off x="2489454" y="1962150"/>
            <a:ext cx="0" cy="52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C1AD9A-EDCD-07E8-9D70-818896D33F3C}"/>
              </a:ext>
            </a:extLst>
          </p:cNvPr>
          <p:cNvCxnSpPr>
            <a:stCxn id="13" idx="3"/>
            <a:endCxn id="3" idx="0"/>
          </p:cNvCxnSpPr>
          <p:nvPr/>
        </p:nvCxnSpPr>
        <p:spPr>
          <a:xfrm flipH="1">
            <a:off x="5881553" y="1962150"/>
            <a:ext cx="2471554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99E47C-B041-D7B0-DEFB-7DD8DD2C3240}"/>
              </a:ext>
            </a:extLst>
          </p:cNvPr>
          <p:cNvCxnSpPr>
            <a:stCxn id="13" idx="3"/>
            <a:endCxn id="8" idx="0"/>
          </p:cNvCxnSpPr>
          <p:nvPr/>
        </p:nvCxnSpPr>
        <p:spPr>
          <a:xfrm>
            <a:off x="8353107" y="1962150"/>
            <a:ext cx="7609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876CB1-0571-823B-7BF0-F3D564B30B5B}"/>
              </a:ext>
            </a:extLst>
          </p:cNvPr>
          <p:cNvCxnSpPr>
            <a:stCxn id="13" idx="3"/>
            <a:endCxn id="9" idx="0"/>
          </p:cNvCxnSpPr>
          <p:nvPr/>
        </p:nvCxnSpPr>
        <p:spPr>
          <a:xfrm>
            <a:off x="8353107" y="1962150"/>
            <a:ext cx="2365752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C315429-DA96-7284-1362-BECCF086AB25}"/>
              </a:ext>
            </a:extLst>
          </p:cNvPr>
          <p:cNvSpPr/>
          <p:nvPr/>
        </p:nvSpPr>
        <p:spPr>
          <a:xfrm>
            <a:off x="783280" y="4634450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250k abstracts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BD56E0-251D-C19E-931A-ABBACEC1A321}"/>
              </a:ext>
            </a:extLst>
          </p:cNvPr>
          <p:cNvSpPr/>
          <p:nvPr/>
        </p:nvSpPr>
        <p:spPr>
          <a:xfrm>
            <a:off x="3432428" y="4632684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400k mixed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72AAD3-1C7B-397B-7C3D-493720D21340}"/>
              </a:ext>
            </a:extLst>
          </p:cNvPr>
          <p:cNvSpPr/>
          <p:nvPr/>
        </p:nvSpPr>
        <p:spPr>
          <a:xfrm>
            <a:off x="6326830" y="4630917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disease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1CCF21-D3BF-0572-76B9-4013BBF14E20}"/>
              </a:ext>
            </a:extLst>
          </p:cNvPr>
          <p:cNvSpPr/>
          <p:nvPr/>
        </p:nvSpPr>
        <p:spPr>
          <a:xfrm>
            <a:off x="8975978" y="4629151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Combined disease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90AF81-0E7C-4753-957D-0D123BCA3452}"/>
              </a:ext>
            </a:extLst>
          </p:cNvPr>
          <p:cNvCxnSpPr>
            <a:stCxn id="2" idx="2"/>
            <a:endCxn id="16" idx="0"/>
          </p:cNvCxnSpPr>
          <p:nvPr/>
        </p:nvCxnSpPr>
        <p:spPr>
          <a:xfrm flipH="1">
            <a:off x="1878655" y="3162299"/>
            <a:ext cx="610799" cy="147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B360A2B-A2A6-B5AF-23CD-0F8C56448DE9}"/>
              </a:ext>
            </a:extLst>
          </p:cNvPr>
          <p:cNvCxnSpPr>
            <a:stCxn id="3" idx="2"/>
            <a:endCxn id="16" idx="0"/>
          </p:cNvCxnSpPr>
          <p:nvPr/>
        </p:nvCxnSpPr>
        <p:spPr>
          <a:xfrm flipH="1">
            <a:off x="1878655" y="3190875"/>
            <a:ext cx="4002898" cy="1443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197AEF-0160-104B-1C9D-B0B93CEDCB64}"/>
              </a:ext>
            </a:extLst>
          </p:cNvPr>
          <p:cNvCxnSpPr/>
          <p:nvPr/>
        </p:nvCxnSpPr>
        <p:spPr>
          <a:xfrm>
            <a:off x="78328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2214256-FB17-2A6F-14B6-A99D32936AFF}"/>
              </a:ext>
            </a:extLst>
          </p:cNvPr>
          <p:cNvSpPr txBox="1"/>
          <p:nvPr/>
        </p:nvSpPr>
        <p:spPr>
          <a:xfrm>
            <a:off x="215963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Inclusion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C97CB1-5A4A-2F16-E321-F9AE2CCC2FA1}"/>
              </a:ext>
            </a:extLst>
          </p:cNvPr>
          <p:cNvCxnSpPr/>
          <p:nvPr/>
        </p:nvCxnSpPr>
        <p:spPr>
          <a:xfrm>
            <a:off x="632683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1D8256-D4BA-766A-6F3E-CF12C4ED6640}"/>
              </a:ext>
            </a:extLst>
          </p:cNvPr>
          <p:cNvSpPr txBox="1"/>
          <p:nvPr/>
        </p:nvSpPr>
        <p:spPr>
          <a:xfrm>
            <a:off x="770318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Disease task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328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5E00-F303-0826-AF84-D58339EF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AE00C9-57DA-4E2B-1D5D-BB749E9BF86B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FBCD3-90F5-35E1-7837-2C00A2F00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BF2B34F-9F2E-01D1-117C-C98C3904D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4378677-AD4C-C5BC-80FD-A47E496C4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D7DA0C21-82FC-7716-175A-876F3FD69904}"/>
              </a:ext>
            </a:extLst>
          </p:cNvPr>
          <p:cNvSpPr/>
          <p:nvPr/>
        </p:nvSpPr>
        <p:spPr>
          <a:xfrm>
            <a:off x="886847" y="117529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Data Export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2282B6CE-B240-57CD-BA1E-16420991DCC7}"/>
              </a:ext>
            </a:extLst>
          </p:cNvPr>
          <p:cNvSpPr/>
          <p:nvPr/>
        </p:nvSpPr>
        <p:spPr>
          <a:xfrm>
            <a:off x="6750500" y="117529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2025 Annual Baseline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D895AC-AE90-3379-F75C-3821457F9CC7}"/>
              </a:ext>
            </a:extLst>
          </p:cNvPr>
          <p:cNvSpPr/>
          <p:nvPr/>
        </p:nvSpPr>
        <p:spPr>
          <a:xfrm>
            <a:off x="1394079" y="247649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processed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8E5468-4D8E-BAB5-899F-A1B7EA2A9785}"/>
              </a:ext>
            </a:extLst>
          </p:cNvPr>
          <p:cNvSpPr/>
          <p:nvPr/>
        </p:nvSpPr>
        <p:spPr>
          <a:xfrm>
            <a:off x="5049446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250k sample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B5A061-EA66-A95E-1A8C-0CBC3B9A3C83}"/>
              </a:ext>
            </a:extLst>
          </p:cNvPr>
          <p:cNvSpPr/>
          <p:nvPr/>
        </p:nvSpPr>
        <p:spPr>
          <a:xfrm>
            <a:off x="7528609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400k sample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2B7A3-ED4D-E5D6-59C9-3B20EB3C9CB8}"/>
              </a:ext>
            </a:extLst>
          </p:cNvPr>
          <p:cNvSpPr/>
          <p:nvPr/>
        </p:nvSpPr>
        <p:spPr>
          <a:xfrm>
            <a:off x="9886752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NTD Mesh Terms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9E4617-0172-49D3-9C6F-FA594A0D48D5}"/>
              </a:ext>
            </a:extLst>
          </p:cNvPr>
          <p:cNvCxnSpPr>
            <a:stCxn id="12" idx="3"/>
            <a:endCxn id="2" idx="0"/>
          </p:cNvCxnSpPr>
          <p:nvPr/>
        </p:nvCxnSpPr>
        <p:spPr>
          <a:xfrm>
            <a:off x="2489454" y="1952625"/>
            <a:ext cx="0" cy="52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86274C-DB97-B080-B297-B15ABD18A9F1}"/>
              </a:ext>
            </a:extLst>
          </p:cNvPr>
          <p:cNvCxnSpPr>
            <a:stCxn id="13" idx="3"/>
            <a:endCxn id="3" idx="0"/>
          </p:cNvCxnSpPr>
          <p:nvPr/>
        </p:nvCxnSpPr>
        <p:spPr>
          <a:xfrm flipH="1">
            <a:off x="5881553" y="1952625"/>
            <a:ext cx="2471554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4F19B7-58FD-58A0-2989-58A5725374C0}"/>
              </a:ext>
            </a:extLst>
          </p:cNvPr>
          <p:cNvCxnSpPr>
            <a:stCxn id="13" idx="3"/>
            <a:endCxn id="8" idx="0"/>
          </p:cNvCxnSpPr>
          <p:nvPr/>
        </p:nvCxnSpPr>
        <p:spPr>
          <a:xfrm>
            <a:off x="8353107" y="1952625"/>
            <a:ext cx="7609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41F42E-ABD9-2BED-5D72-E7D1EC0948AA}"/>
              </a:ext>
            </a:extLst>
          </p:cNvPr>
          <p:cNvCxnSpPr>
            <a:stCxn id="13" idx="3"/>
            <a:endCxn id="9" idx="0"/>
          </p:cNvCxnSpPr>
          <p:nvPr/>
        </p:nvCxnSpPr>
        <p:spPr>
          <a:xfrm>
            <a:off x="8353107" y="1952625"/>
            <a:ext cx="2365752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27D7571-2F49-2115-9E01-E1B05A6BFFD0}"/>
              </a:ext>
            </a:extLst>
          </p:cNvPr>
          <p:cNvSpPr/>
          <p:nvPr/>
        </p:nvSpPr>
        <p:spPr>
          <a:xfrm>
            <a:off x="783280" y="4624925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250k abstracts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F2AF54-C590-1BDD-DB3A-9EEDD2AD2495}"/>
              </a:ext>
            </a:extLst>
          </p:cNvPr>
          <p:cNvSpPr/>
          <p:nvPr/>
        </p:nvSpPr>
        <p:spPr>
          <a:xfrm>
            <a:off x="3432428" y="462315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400k mixed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DB6E3B-D27E-72B0-EC7B-63774FE27B0C}"/>
              </a:ext>
            </a:extLst>
          </p:cNvPr>
          <p:cNvSpPr/>
          <p:nvPr/>
        </p:nvSpPr>
        <p:spPr>
          <a:xfrm>
            <a:off x="6326830" y="4621392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disease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F73036-CBC4-2605-BE5E-42F86ACB8D4F}"/>
              </a:ext>
            </a:extLst>
          </p:cNvPr>
          <p:cNvSpPr/>
          <p:nvPr/>
        </p:nvSpPr>
        <p:spPr>
          <a:xfrm>
            <a:off x="8975978" y="4619626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Combined disease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EED8A2-B3D9-4892-E1E8-8A1E6F7CEAFF}"/>
              </a:ext>
            </a:extLst>
          </p:cNvPr>
          <p:cNvCxnSpPr>
            <a:stCxn id="2" idx="2"/>
            <a:endCxn id="16" idx="0"/>
          </p:cNvCxnSpPr>
          <p:nvPr/>
        </p:nvCxnSpPr>
        <p:spPr>
          <a:xfrm flipH="1">
            <a:off x="1878655" y="3152774"/>
            <a:ext cx="610799" cy="147215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ACC64E-0A81-BCE6-5DD8-1CF4D8184713}"/>
              </a:ext>
            </a:extLst>
          </p:cNvPr>
          <p:cNvCxnSpPr>
            <a:stCxn id="3" idx="2"/>
            <a:endCxn id="16" idx="0"/>
          </p:cNvCxnSpPr>
          <p:nvPr/>
        </p:nvCxnSpPr>
        <p:spPr>
          <a:xfrm flipH="1">
            <a:off x="1878655" y="3181350"/>
            <a:ext cx="4002898" cy="144357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5B14DD-40AB-1EBF-F15C-A9D71F119201}"/>
              </a:ext>
            </a:extLst>
          </p:cNvPr>
          <p:cNvCxnSpPr>
            <a:stCxn id="2" idx="2"/>
            <a:endCxn id="17" idx="0"/>
          </p:cNvCxnSpPr>
          <p:nvPr/>
        </p:nvCxnSpPr>
        <p:spPr>
          <a:xfrm>
            <a:off x="2489454" y="3152774"/>
            <a:ext cx="2038349" cy="14703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4A9C1C-8786-91DF-ABF6-F1434AF2FD19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4527803" y="3181350"/>
            <a:ext cx="3832913" cy="1441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263707-8470-DE34-A180-50CF4BD528F9}"/>
              </a:ext>
            </a:extLst>
          </p:cNvPr>
          <p:cNvCxnSpPr/>
          <p:nvPr/>
        </p:nvCxnSpPr>
        <p:spPr>
          <a:xfrm>
            <a:off x="78328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13CE5C5-00FA-F212-7A34-223F4DAD42A5}"/>
              </a:ext>
            </a:extLst>
          </p:cNvPr>
          <p:cNvSpPr txBox="1"/>
          <p:nvPr/>
        </p:nvSpPr>
        <p:spPr>
          <a:xfrm>
            <a:off x="215963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Inclusion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487318-4AAB-1FA7-3FC4-9B5FF26FAD98}"/>
              </a:ext>
            </a:extLst>
          </p:cNvPr>
          <p:cNvCxnSpPr/>
          <p:nvPr/>
        </p:nvCxnSpPr>
        <p:spPr>
          <a:xfrm>
            <a:off x="632683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E4BD1A2-7096-E99F-AA1A-FD92781DD6B7}"/>
              </a:ext>
            </a:extLst>
          </p:cNvPr>
          <p:cNvSpPr txBox="1"/>
          <p:nvPr/>
        </p:nvSpPr>
        <p:spPr>
          <a:xfrm>
            <a:off x="770318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Disease task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187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9ECA-83B8-1425-9646-83B7BE3E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7443B9-6F47-6AF4-31D3-2FD77535566D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319E3-01DF-8F5B-488E-95D231A1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DF923D0-A7B2-6E5B-504A-569CA225A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9F6A649-9748-75BB-C383-E237CA9F2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640C3560-7701-9EC5-C0F8-FA7EF342D7EB}"/>
              </a:ext>
            </a:extLst>
          </p:cNvPr>
          <p:cNvSpPr/>
          <p:nvPr/>
        </p:nvSpPr>
        <p:spPr>
          <a:xfrm>
            <a:off x="886847" y="117529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Data Export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B17289DF-DA73-AEB5-DF24-4000DF606C25}"/>
              </a:ext>
            </a:extLst>
          </p:cNvPr>
          <p:cNvSpPr/>
          <p:nvPr/>
        </p:nvSpPr>
        <p:spPr>
          <a:xfrm>
            <a:off x="6750500" y="117529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2025 Annual Baseline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05A22-6DE8-C395-62A1-2B47C9F2F70E}"/>
              </a:ext>
            </a:extLst>
          </p:cNvPr>
          <p:cNvSpPr/>
          <p:nvPr/>
        </p:nvSpPr>
        <p:spPr>
          <a:xfrm>
            <a:off x="1394079" y="247649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processed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816CF-1553-142D-F7DE-190C364F3980}"/>
              </a:ext>
            </a:extLst>
          </p:cNvPr>
          <p:cNvSpPr/>
          <p:nvPr/>
        </p:nvSpPr>
        <p:spPr>
          <a:xfrm>
            <a:off x="5049446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250k sample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C2102-B0B7-229F-E0AB-B0D8D9E3AE29}"/>
              </a:ext>
            </a:extLst>
          </p:cNvPr>
          <p:cNvSpPr/>
          <p:nvPr/>
        </p:nvSpPr>
        <p:spPr>
          <a:xfrm>
            <a:off x="7528609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400k sample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07B1C3-E1E7-AC76-C086-0A457CCC6EC2}"/>
              </a:ext>
            </a:extLst>
          </p:cNvPr>
          <p:cNvSpPr/>
          <p:nvPr/>
        </p:nvSpPr>
        <p:spPr>
          <a:xfrm>
            <a:off x="9886752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NTD Mesh Terms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DA47EC-3C15-C499-0AA6-0CC5349A9E88}"/>
              </a:ext>
            </a:extLst>
          </p:cNvPr>
          <p:cNvCxnSpPr>
            <a:stCxn id="12" idx="3"/>
            <a:endCxn id="2" idx="0"/>
          </p:cNvCxnSpPr>
          <p:nvPr/>
        </p:nvCxnSpPr>
        <p:spPr>
          <a:xfrm>
            <a:off x="2489454" y="1952625"/>
            <a:ext cx="0" cy="52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362F3E-AEE8-73D5-DB4F-9766A0BADBFA}"/>
              </a:ext>
            </a:extLst>
          </p:cNvPr>
          <p:cNvCxnSpPr>
            <a:stCxn id="13" idx="3"/>
            <a:endCxn id="3" idx="0"/>
          </p:cNvCxnSpPr>
          <p:nvPr/>
        </p:nvCxnSpPr>
        <p:spPr>
          <a:xfrm flipH="1">
            <a:off x="5881553" y="1952625"/>
            <a:ext cx="2471554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862377-F8A1-440D-B937-C47CEE103078}"/>
              </a:ext>
            </a:extLst>
          </p:cNvPr>
          <p:cNvCxnSpPr>
            <a:stCxn id="13" idx="3"/>
            <a:endCxn id="8" idx="0"/>
          </p:cNvCxnSpPr>
          <p:nvPr/>
        </p:nvCxnSpPr>
        <p:spPr>
          <a:xfrm>
            <a:off x="8353107" y="1952625"/>
            <a:ext cx="7609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0D7D14-248B-80E4-250C-D10DFC264D60}"/>
              </a:ext>
            </a:extLst>
          </p:cNvPr>
          <p:cNvCxnSpPr>
            <a:stCxn id="13" idx="3"/>
            <a:endCxn id="9" idx="0"/>
          </p:cNvCxnSpPr>
          <p:nvPr/>
        </p:nvCxnSpPr>
        <p:spPr>
          <a:xfrm>
            <a:off x="8353107" y="1952625"/>
            <a:ext cx="2365752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695A5-1B9E-F8B7-5975-2062D1D18113}"/>
              </a:ext>
            </a:extLst>
          </p:cNvPr>
          <p:cNvSpPr/>
          <p:nvPr/>
        </p:nvSpPr>
        <p:spPr>
          <a:xfrm>
            <a:off x="783280" y="4624925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250k abstracts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0EC316-F49F-72B9-66DF-5610B5343892}"/>
              </a:ext>
            </a:extLst>
          </p:cNvPr>
          <p:cNvSpPr/>
          <p:nvPr/>
        </p:nvSpPr>
        <p:spPr>
          <a:xfrm>
            <a:off x="3432428" y="462315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400k mixed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ED5252-55FB-64A6-E560-3FD0AC895DCB}"/>
              </a:ext>
            </a:extLst>
          </p:cNvPr>
          <p:cNvSpPr/>
          <p:nvPr/>
        </p:nvSpPr>
        <p:spPr>
          <a:xfrm>
            <a:off x="6326830" y="4621392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disease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88D98-1B5E-7BD6-A264-0A6695E49D90}"/>
              </a:ext>
            </a:extLst>
          </p:cNvPr>
          <p:cNvSpPr/>
          <p:nvPr/>
        </p:nvSpPr>
        <p:spPr>
          <a:xfrm>
            <a:off x="8975978" y="4619626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Combined disease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EFB781-ABCF-2BE5-71DF-DE81791C08DB}"/>
              </a:ext>
            </a:extLst>
          </p:cNvPr>
          <p:cNvCxnSpPr>
            <a:stCxn id="2" idx="2"/>
            <a:endCxn id="16" idx="0"/>
          </p:cNvCxnSpPr>
          <p:nvPr/>
        </p:nvCxnSpPr>
        <p:spPr>
          <a:xfrm flipH="1">
            <a:off x="1878655" y="3152774"/>
            <a:ext cx="610799" cy="147215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8CFEB1-A69D-6C12-EC80-8BA1D0360AA2}"/>
              </a:ext>
            </a:extLst>
          </p:cNvPr>
          <p:cNvCxnSpPr>
            <a:stCxn id="3" idx="2"/>
            <a:endCxn id="16" idx="0"/>
          </p:cNvCxnSpPr>
          <p:nvPr/>
        </p:nvCxnSpPr>
        <p:spPr>
          <a:xfrm flipH="1">
            <a:off x="1878655" y="3181350"/>
            <a:ext cx="4002898" cy="144357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28DF38-44DF-A23B-763C-B3362276D057}"/>
              </a:ext>
            </a:extLst>
          </p:cNvPr>
          <p:cNvCxnSpPr>
            <a:stCxn id="2" idx="2"/>
            <a:endCxn id="17" idx="0"/>
          </p:cNvCxnSpPr>
          <p:nvPr/>
        </p:nvCxnSpPr>
        <p:spPr>
          <a:xfrm>
            <a:off x="2489454" y="3152774"/>
            <a:ext cx="2038349" cy="147038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CD5B99-9850-B351-21AF-A84D67106424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4527803" y="3181350"/>
            <a:ext cx="3832913" cy="144180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09F1C72-E0D0-8DF5-8C29-28AECFC60AC3}"/>
              </a:ext>
            </a:extLst>
          </p:cNvPr>
          <p:cNvCxnSpPr/>
          <p:nvPr/>
        </p:nvCxnSpPr>
        <p:spPr>
          <a:xfrm>
            <a:off x="78328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A3B8B5F-B4C9-263F-18DE-9D05800F3514}"/>
              </a:ext>
            </a:extLst>
          </p:cNvPr>
          <p:cNvSpPr txBox="1"/>
          <p:nvPr/>
        </p:nvSpPr>
        <p:spPr>
          <a:xfrm>
            <a:off x="215963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Inclusion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490B48-D8D1-E468-A19F-29D974A3720C}"/>
              </a:ext>
            </a:extLst>
          </p:cNvPr>
          <p:cNvCxnSpPr/>
          <p:nvPr/>
        </p:nvCxnSpPr>
        <p:spPr>
          <a:xfrm>
            <a:off x="632683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7D96EA0-A7C2-594B-14AD-C0396B0EC017}"/>
              </a:ext>
            </a:extLst>
          </p:cNvPr>
          <p:cNvSpPr txBox="1"/>
          <p:nvPr/>
        </p:nvSpPr>
        <p:spPr>
          <a:xfrm>
            <a:off x="770318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Disease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086EBC-196C-535E-22FE-DA9152D965F1}"/>
              </a:ext>
            </a:extLst>
          </p:cNvPr>
          <p:cNvCxnSpPr>
            <a:stCxn id="2" idx="2"/>
            <a:endCxn id="19" idx="0"/>
          </p:cNvCxnSpPr>
          <p:nvPr/>
        </p:nvCxnSpPr>
        <p:spPr>
          <a:xfrm>
            <a:off x="2489454" y="3152774"/>
            <a:ext cx="4932751" cy="1468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917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ACAD-A918-2BA7-4B9E-904F1504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85FB05-3381-5694-C6EF-32C05334BC17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FEB7C-C688-57AE-A5BD-3B0292FDC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6A9A73A-0564-507C-5FDB-8C94DEED7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1101177-18C6-F78F-1872-594BAD398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F7155F0F-5EE8-42A4-E7C5-E75502C7FE14}"/>
              </a:ext>
            </a:extLst>
          </p:cNvPr>
          <p:cNvSpPr/>
          <p:nvPr/>
        </p:nvSpPr>
        <p:spPr>
          <a:xfrm>
            <a:off x="886847" y="117529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Data Export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B349DFB7-6611-A099-7C0B-59DABA95362A}"/>
              </a:ext>
            </a:extLst>
          </p:cNvPr>
          <p:cNvSpPr/>
          <p:nvPr/>
        </p:nvSpPr>
        <p:spPr>
          <a:xfrm>
            <a:off x="6750500" y="1175297"/>
            <a:ext cx="3205213" cy="77732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2025 Annual Baseline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749549-3D31-9DDA-5D5D-7050F0370097}"/>
              </a:ext>
            </a:extLst>
          </p:cNvPr>
          <p:cNvSpPr/>
          <p:nvPr/>
        </p:nvSpPr>
        <p:spPr>
          <a:xfrm>
            <a:off x="1394079" y="247649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processed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425CF0-5878-EFA1-6F5F-0874CC9836B8}"/>
              </a:ext>
            </a:extLst>
          </p:cNvPr>
          <p:cNvSpPr/>
          <p:nvPr/>
        </p:nvSpPr>
        <p:spPr>
          <a:xfrm>
            <a:off x="5049446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250k sample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7868A3-3F6D-6BF2-BBD9-B1A3AFEF5636}"/>
              </a:ext>
            </a:extLst>
          </p:cNvPr>
          <p:cNvSpPr/>
          <p:nvPr/>
        </p:nvSpPr>
        <p:spPr>
          <a:xfrm>
            <a:off x="7528609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400k sample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6A0717-B6AA-6EBD-BECF-7E1F264D67F6}"/>
              </a:ext>
            </a:extLst>
          </p:cNvPr>
          <p:cNvSpPr/>
          <p:nvPr/>
        </p:nvSpPr>
        <p:spPr>
          <a:xfrm>
            <a:off x="9886752" y="2505075"/>
            <a:ext cx="1664213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PubMed NTD Mesh Terms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821548-8277-5103-3ED0-904EA94D0712}"/>
              </a:ext>
            </a:extLst>
          </p:cNvPr>
          <p:cNvCxnSpPr>
            <a:stCxn id="12" idx="3"/>
            <a:endCxn id="2" idx="0"/>
          </p:cNvCxnSpPr>
          <p:nvPr/>
        </p:nvCxnSpPr>
        <p:spPr>
          <a:xfrm>
            <a:off x="2489454" y="1952625"/>
            <a:ext cx="0" cy="52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6B0B15-0654-4A30-E327-ECD5C4B9E91C}"/>
              </a:ext>
            </a:extLst>
          </p:cNvPr>
          <p:cNvCxnSpPr>
            <a:stCxn id="13" idx="3"/>
            <a:endCxn id="3" idx="0"/>
          </p:cNvCxnSpPr>
          <p:nvPr/>
        </p:nvCxnSpPr>
        <p:spPr>
          <a:xfrm flipH="1">
            <a:off x="5881553" y="1952625"/>
            <a:ext cx="2471554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7E7A83-300C-0373-C473-9F13379C1F93}"/>
              </a:ext>
            </a:extLst>
          </p:cNvPr>
          <p:cNvCxnSpPr>
            <a:stCxn id="13" idx="3"/>
            <a:endCxn id="8" idx="0"/>
          </p:cNvCxnSpPr>
          <p:nvPr/>
        </p:nvCxnSpPr>
        <p:spPr>
          <a:xfrm>
            <a:off x="8353107" y="1952625"/>
            <a:ext cx="7609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62D2D1-1240-508B-96EE-73E9E0E28D2D}"/>
              </a:ext>
            </a:extLst>
          </p:cNvPr>
          <p:cNvCxnSpPr>
            <a:stCxn id="13" idx="3"/>
            <a:endCxn id="9" idx="0"/>
          </p:cNvCxnSpPr>
          <p:nvPr/>
        </p:nvCxnSpPr>
        <p:spPr>
          <a:xfrm>
            <a:off x="8353107" y="1952625"/>
            <a:ext cx="2365752" cy="55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22663-3FAA-00EB-9A24-921AA052E3EB}"/>
              </a:ext>
            </a:extLst>
          </p:cNvPr>
          <p:cNvSpPr/>
          <p:nvPr/>
        </p:nvSpPr>
        <p:spPr>
          <a:xfrm>
            <a:off x="783280" y="4624925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250k abstracts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739044-1382-3BC4-00C4-43FE5652DA51}"/>
              </a:ext>
            </a:extLst>
          </p:cNvPr>
          <p:cNvSpPr/>
          <p:nvPr/>
        </p:nvSpPr>
        <p:spPr>
          <a:xfrm>
            <a:off x="3432428" y="4623159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400k mixed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C2FC8-CA35-00D2-C787-8734DF0B8374}"/>
              </a:ext>
            </a:extLst>
          </p:cNvPr>
          <p:cNvSpPr/>
          <p:nvPr/>
        </p:nvSpPr>
        <p:spPr>
          <a:xfrm>
            <a:off x="6326830" y="4621392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Info Platforms disease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482835-4D59-2120-A335-BAC83C223C2F}"/>
              </a:ext>
            </a:extLst>
          </p:cNvPr>
          <p:cNvSpPr/>
          <p:nvPr/>
        </p:nvSpPr>
        <p:spPr>
          <a:xfrm>
            <a:off x="8975978" y="4619626"/>
            <a:ext cx="2190750" cy="676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Combined disease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128299-3846-8B62-6313-E7563C80B0A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 flipH="1">
            <a:off x="1878655" y="3152774"/>
            <a:ext cx="610799" cy="147215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80508A-0761-865D-54A5-04F84CD9B17C}"/>
              </a:ext>
            </a:extLst>
          </p:cNvPr>
          <p:cNvCxnSpPr>
            <a:stCxn id="3" idx="2"/>
            <a:endCxn id="16" idx="0"/>
          </p:cNvCxnSpPr>
          <p:nvPr/>
        </p:nvCxnSpPr>
        <p:spPr>
          <a:xfrm flipH="1">
            <a:off x="1878655" y="3181350"/>
            <a:ext cx="4002898" cy="144357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1BB2B4-2D4C-0C96-5ED6-CBDD47AEC820}"/>
              </a:ext>
            </a:extLst>
          </p:cNvPr>
          <p:cNvCxnSpPr>
            <a:stCxn id="2" idx="2"/>
            <a:endCxn id="17" idx="0"/>
          </p:cNvCxnSpPr>
          <p:nvPr/>
        </p:nvCxnSpPr>
        <p:spPr>
          <a:xfrm>
            <a:off x="2489454" y="3152774"/>
            <a:ext cx="2038349" cy="147038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5A0F9A-BC50-1351-BAF7-FB1E559808C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4527803" y="3181350"/>
            <a:ext cx="3832913" cy="144180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2D92F4-8AF2-21CC-EBA7-2FC2F209E5C9}"/>
              </a:ext>
            </a:extLst>
          </p:cNvPr>
          <p:cNvCxnSpPr/>
          <p:nvPr/>
        </p:nvCxnSpPr>
        <p:spPr>
          <a:xfrm>
            <a:off x="78328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D174E9-DD62-6189-BF08-D02AB950D2A1}"/>
              </a:ext>
            </a:extLst>
          </p:cNvPr>
          <p:cNvSpPr txBox="1"/>
          <p:nvPr/>
        </p:nvSpPr>
        <p:spPr>
          <a:xfrm>
            <a:off x="215963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Inclusion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B598069-158C-F108-4C22-CA45CB20B887}"/>
              </a:ext>
            </a:extLst>
          </p:cNvPr>
          <p:cNvCxnSpPr/>
          <p:nvPr/>
        </p:nvCxnSpPr>
        <p:spPr>
          <a:xfrm>
            <a:off x="6326830" y="5534025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B6C811-473C-3413-31BB-5C1FB0D84307}"/>
              </a:ext>
            </a:extLst>
          </p:cNvPr>
          <p:cNvSpPr txBox="1"/>
          <p:nvPr/>
        </p:nvSpPr>
        <p:spPr>
          <a:xfrm>
            <a:off x="7703187" y="5637571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Disease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9B5158-2E95-A761-E913-34EE8A245A83}"/>
              </a:ext>
            </a:extLst>
          </p:cNvPr>
          <p:cNvCxnSpPr>
            <a:stCxn id="2" idx="2"/>
            <a:endCxn id="19" idx="0"/>
          </p:cNvCxnSpPr>
          <p:nvPr/>
        </p:nvCxnSpPr>
        <p:spPr>
          <a:xfrm>
            <a:off x="2489454" y="3152774"/>
            <a:ext cx="4932751" cy="146861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09ACF-C6BB-C8E1-0E72-8593FCD7CE0C}"/>
              </a:ext>
            </a:extLst>
          </p:cNvPr>
          <p:cNvCxnSpPr>
            <a:stCxn id="9" idx="2"/>
            <a:endCxn id="21" idx="0"/>
          </p:cNvCxnSpPr>
          <p:nvPr/>
        </p:nvCxnSpPr>
        <p:spPr>
          <a:xfrm flipH="1">
            <a:off x="10071353" y="3181350"/>
            <a:ext cx="647506" cy="1438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2BC4BB-85FA-94BF-9075-508372345924}"/>
              </a:ext>
            </a:extLst>
          </p:cNvPr>
          <p:cNvCxnSpPr>
            <a:stCxn id="2" idx="2"/>
            <a:endCxn id="21" idx="0"/>
          </p:cNvCxnSpPr>
          <p:nvPr/>
        </p:nvCxnSpPr>
        <p:spPr>
          <a:xfrm>
            <a:off x="2489454" y="3152774"/>
            <a:ext cx="7581899" cy="146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030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51989-54E4-42FA-4E05-E16284DC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27AB3A-F568-111F-7E95-0807BACE134D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RQ1: Hybrid data acquisition strategy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C492-4713-7DAD-5F57-38AA24F75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715E132-2551-3651-503D-E8A018405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FEF01D6-2C12-714E-0357-0ED3CFD47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36EF231F-2A1D-6A6E-DE11-11FBDBDD7594}"/>
              </a:ext>
            </a:extLst>
          </p:cNvPr>
          <p:cNvSpPr/>
          <p:nvPr/>
        </p:nvSpPr>
        <p:spPr>
          <a:xfrm>
            <a:off x="886847" y="1175297"/>
            <a:ext cx="3205213" cy="54995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/>
              <a:t>Info Platforms Data Export</a:t>
            </a:r>
            <a:endParaRPr lang="en-US" sz="1200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71FB5C98-EAF9-AE6B-7D75-5DD7EA91D629}"/>
              </a:ext>
            </a:extLst>
          </p:cNvPr>
          <p:cNvSpPr/>
          <p:nvPr/>
        </p:nvSpPr>
        <p:spPr>
          <a:xfrm>
            <a:off x="6750500" y="1175297"/>
            <a:ext cx="3205213" cy="54995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/>
              <a:t>PubMed 2025 Annual Baseline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2B3D9B-8B1B-063D-E3BD-820FD1138616}"/>
              </a:ext>
            </a:extLst>
          </p:cNvPr>
          <p:cNvSpPr/>
          <p:nvPr/>
        </p:nvSpPr>
        <p:spPr>
          <a:xfrm>
            <a:off x="1394079" y="2156875"/>
            <a:ext cx="2190750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Info Platforms processed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513B7-61BA-F96A-132E-99CDDAAA5C50}"/>
              </a:ext>
            </a:extLst>
          </p:cNvPr>
          <p:cNvSpPr/>
          <p:nvPr/>
        </p:nvSpPr>
        <p:spPr>
          <a:xfrm>
            <a:off x="5049446" y="2185451"/>
            <a:ext cx="1664213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PubMed 250k sample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8F0057-572C-6004-2098-BFB3E81DA7A8}"/>
              </a:ext>
            </a:extLst>
          </p:cNvPr>
          <p:cNvSpPr/>
          <p:nvPr/>
        </p:nvSpPr>
        <p:spPr>
          <a:xfrm>
            <a:off x="7528609" y="2185451"/>
            <a:ext cx="1664213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PubMed 400k sample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EE9AAF-4919-96EF-279A-1C6D187DA50C}"/>
              </a:ext>
            </a:extLst>
          </p:cNvPr>
          <p:cNvSpPr/>
          <p:nvPr/>
        </p:nvSpPr>
        <p:spPr>
          <a:xfrm>
            <a:off x="9886752" y="2185451"/>
            <a:ext cx="1664213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PubMed NTD Mesh Terms</a:t>
            </a:r>
            <a:endParaRPr lang="en-US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3A3A58-CBFA-2FB7-8E81-7AD01AFCDC6F}"/>
              </a:ext>
            </a:extLst>
          </p:cNvPr>
          <p:cNvCxnSpPr>
            <a:cxnSpLocks/>
            <a:stCxn id="12" idx="3"/>
            <a:endCxn id="2" idx="0"/>
          </p:cNvCxnSpPr>
          <p:nvPr/>
        </p:nvCxnSpPr>
        <p:spPr>
          <a:xfrm>
            <a:off x="2489454" y="1725254"/>
            <a:ext cx="0" cy="431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F20CBE-F5B6-DE52-4241-7CAF39B50CD4}"/>
              </a:ext>
            </a:extLst>
          </p:cNvPr>
          <p:cNvCxnSpPr>
            <a:cxnSpLocks/>
            <a:stCxn id="13" idx="3"/>
            <a:endCxn id="3" idx="0"/>
          </p:cNvCxnSpPr>
          <p:nvPr/>
        </p:nvCxnSpPr>
        <p:spPr>
          <a:xfrm flipH="1">
            <a:off x="5881553" y="1725254"/>
            <a:ext cx="2471554" cy="460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D22E1C-BFA0-A008-EE26-38175A2382C3}"/>
              </a:ext>
            </a:extLst>
          </p:cNvPr>
          <p:cNvCxnSpPr>
            <a:cxnSpLocks/>
            <a:stCxn id="13" idx="3"/>
            <a:endCxn id="8" idx="0"/>
          </p:cNvCxnSpPr>
          <p:nvPr/>
        </p:nvCxnSpPr>
        <p:spPr>
          <a:xfrm>
            <a:off x="8353107" y="1725254"/>
            <a:ext cx="7609" cy="460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EDA004-D34B-EDE4-B815-9CC58B1B8F35}"/>
              </a:ext>
            </a:extLst>
          </p:cNvPr>
          <p:cNvCxnSpPr>
            <a:cxnSpLocks/>
            <a:stCxn id="13" idx="3"/>
            <a:endCxn id="9" idx="0"/>
          </p:cNvCxnSpPr>
          <p:nvPr/>
        </p:nvCxnSpPr>
        <p:spPr>
          <a:xfrm>
            <a:off x="8353107" y="1725254"/>
            <a:ext cx="2365752" cy="460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0ED414C-0ABD-7AC8-2CAE-C0F93471BA0E}"/>
              </a:ext>
            </a:extLst>
          </p:cNvPr>
          <p:cNvSpPr/>
          <p:nvPr/>
        </p:nvSpPr>
        <p:spPr>
          <a:xfrm>
            <a:off x="783280" y="3107185"/>
            <a:ext cx="2190750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250k abstracts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6CD00-5D84-97A0-C654-EC9578CBD3E4}"/>
              </a:ext>
            </a:extLst>
          </p:cNvPr>
          <p:cNvSpPr/>
          <p:nvPr/>
        </p:nvSpPr>
        <p:spPr>
          <a:xfrm>
            <a:off x="3432428" y="3105419"/>
            <a:ext cx="2190750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400k mixed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BCA128-BDD3-C486-EF95-3B5748FC40BB}"/>
              </a:ext>
            </a:extLst>
          </p:cNvPr>
          <p:cNvSpPr/>
          <p:nvPr/>
        </p:nvSpPr>
        <p:spPr>
          <a:xfrm>
            <a:off x="6326830" y="3103652"/>
            <a:ext cx="2190750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Info Platforms disease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2C2AF7-1B86-8198-F2F1-922452FF9E5A}"/>
              </a:ext>
            </a:extLst>
          </p:cNvPr>
          <p:cNvSpPr/>
          <p:nvPr/>
        </p:nvSpPr>
        <p:spPr>
          <a:xfrm>
            <a:off x="8975978" y="3101886"/>
            <a:ext cx="2190750" cy="409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Combined disease</a:t>
            </a:r>
            <a:endParaRPr lang="en-US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5C5CC6-E417-ED90-7CF2-459D931E8BD6}"/>
              </a:ext>
            </a:extLst>
          </p:cNvPr>
          <p:cNvCxnSpPr>
            <a:cxnSpLocks/>
            <a:stCxn id="2" idx="2"/>
            <a:endCxn id="16" idx="0"/>
          </p:cNvCxnSpPr>
          <p:nvPr/>
        </p:nvCxnSpPr>
        <p:spPr>
          <a:xfrm flipH="1">
            <a:off x="1878655" y="2566449"/>
            <a:ext cx="610799" cy="54073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119992-1BB7-CEF0-7C61-AF4CBBBF57B2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 flipH="1">
            <a:off x="1878655" y="2595025"/>
            <a:ext cx="4002898" cy="51216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B5092C-09E6-A17A-024D-E5187F4150B5}"/>
              </a:ext>
            </a:extLst>
          </p:cNvPr>
          <p:cNvCxnSpPr>
            <a:cxnSpLocks/>
            <a:stCxn id="2" idx="2"/>
            <a:endCxn id="17" idx="0"/>
          </p:cNvCxnSpPr>
          <p:nvPr/>
        </p:nvCxnSpPr>
        <p:spPr>
          <a:xfrm>
            <a:off x="2489454" y="2566449"/>
            <a:ext cx="2038349" cy="53897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241A4D-01DC-3B27-E390-A969ED317DA6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4527803" y="2595025"/>
            <a:ext cx="3832913" cy="510394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272532-88CF-01D0-E9CD-832DF56CF73C}"/>
              </a:ext>
            </a:extLst>
          </p:cNvPr>
          <p:cNvCxnSpPr>
            <a:cxnSpLocks/>
          </p:cNvCxnSpPr>
          <p:nvPr/>
        </p:nvCxnSpPr>
        <p:spPr>
          <a:xfrm>
            <a:off x="734446" y="3688744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3FCD3D1-5CBB-2BA8-F880-4E3107BE27CE}"/>
              </a:ext>
            </a:extLst>
          </p:cNvPr>
          <p:cNvSpPr txBox="1"/>
          <p:nvPr/>
        </p:nvSpPr>
        <p:spPr>
          <a:xfrm>
            <a:off x="2110803" y="3792290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Inclusion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73125B-BF53-5992-AD49-40F2C0DEF55F}"/>
              </a:ext>
            </a:extLst>
          </p:cNvPr>
          <p:cNvCxnSpPr>
            <a:cxnSpLocks/>
          </p:cNvCxnSpPr>
          <p:nvPr/>
        </p:nvCxnSpPr>
        <p:spPr>
          <a:xfrm>
            <a:off x="6277996" y="3688744"/>
            <a:ext cx="4839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0EC44C4-2F90-CE3C-205B-A366D4FFA4BF}"/>
              </a:ext>
            </a:extLst>
          </p:cNvPr>
          <p:cNvSpPr txBox="1"/>
          <p:nvPr/>
        </p:nvSpPr>
        <p:spPr>
          <a:xfrm>
            <a:off x="7654353" y="3792290"/>
            <a:ext cx="208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solidFill>
                  <a:schemeClr val="tx2"/>
                </a:solidFill>
              </a:rPr>
              <a:t>Disease task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D3921E-589E-579D-64BF-ED501BB4B219}"/>
              </a:ext>
            </a:extLst>
          </p:cNvPr>
          <p:cNvCxnSpPr>
            <a:cxnSpLocks/>
            <a:stCxn id="2" idx="2"/>
            <a:endCxn id="19" idx="0"/>
          </p:cNvCxnSpPr>
          <p:nvPr/>
        </p:nvCxnSpPr>
        <p:spPr>
          <a:xfrm>
            <a:off x="2489454" y="2566449"/>
            <a:ext cx="4932751" cy="53720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ECBA75-C8B1-BA37-134D-9B82272600B1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 flipH="1">
            <a:off x="10071353" y="2595025"/>
            <a:ext cx="647506" cy="50686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2E28C3-1D31-D6BB-CAB6-160903FAD54E}"/>
              </a:ext>
            </a:extLst>
          </p:cNvPr>
          <p:cNvCxnSpPr>
            <a:cxnSpLocks/>
            <a:stCxn id="2" idx="2"/>
            <a:endCxn id="21" idx="0"/>
          </p:cNvCxnSpPr>
          <p:nvPr/>
        </p:nvCxnSpPr>
        <p:spPr>
          <a:xfrm>
            <a:off x="2489454" y="2566449"/>
            <a:ext cx="7581899" cy="53543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9D391DD-3BA4-C794-8D5B-764311F1E74D}"/>
              </a:ext>
            </a:extLst>
          </p:cNvPr>
          <p:cNvSpPr txBox="1"/>
          <p:nvPr/>
        </p:nvSpPr>
        <p:spPr>
          <a:xfrm>
            <a:off x="734445" y="4314824"/>
            <a:ext cx="10533629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dirty="0"/>
              <a:t>80/20 train test splits;   10% of train for validation in relevant models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dirty="0"/>
              <a:t>Quite large datasets – in literature rarely above 10k entries (except LitCovid)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dirty="0"/>
              <a:t>Adding MeSH terms in Combined disease set had huge impact on underrepresented classes: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dirty="0"/>
              <a:t>E.g. Zika Virus from 98 entries to 6k;   Total size from 21k to 83k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7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46ED58-870B-9D76-1E81-29C320AD6772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pipelines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85AD0-AC49-B992-AA25-DA2A3EBF8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C50E59F-0E13-A2CC-2125-3F762E4AA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E80A296-C8B6-2090-9615-6F4D0B457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51DEB17-14D2-A87E-5705-4E1F8F1B58A6}"/>
              </a:ext>
            </a:extLst>
          </p:cNvPr>
          <p:cNvSpPr/>
          <p:nvPr/>
        </p:nvSpPr>
        <p:spPr>
          <a:xfrm>
            <a:off x="657225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Support Vector Machines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F44341-E208-3541-8DA6-D6955E3FBF5E}"/>
              </a:ext>
            </a:extLst>
          </p:cNvPr>
          <p:cNvSpPr/>
          <p:nvPr/>
        </p:nvSpPr>
        <p:spPr>
          <a:xfrm>
            <a:off x="3662446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3CC430-90F9-C683-516D-6151442C40EC}"/>
              </a:ext>
            </a:extLst>
          </p:cNvPr>
          <p:cNvSpPr/>
          <p:nvPr/>
        </p:nvSpPr>
        <p:spPr>
          <a:xfrm>
            <a:off x="6667667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2.0 Flash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3FB19-C019-E563-3426-977ADF505A0E}"/>
              </a:ext>
            </a:extLst>
          </p:cNvPr>
          <p:cNvSpPr/>
          <p:nvPr/>
        </p:nvSpPr>
        <p:spPr>
          <a:xfrm>
            <a:off x="9672888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Ensemble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470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7CA9-E584-7594-6A69-1D50F9E2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13D8CB-04AC-61B4-C71F-958DD62E13BE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pipelines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DB58F-F3D1-BA6B-638E-C59E5E7C7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91BC1F-2FF7-CDC4-FE5D-6781588B3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2DCD1FA-88BE-FB65-72B2-9BA400A66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10D6B2-8FF7-11B7-F006-BA10E15F7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258" y="2881079"/>
            <a:ext cx="6392167" cy="3343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3583BA-AA27-99B0-3D73-FF2373BFF841}"/>
              </a:ext>
            </a:extLst>
          </p:cNvPr>
          <p:cNvSpPr txBox="1"/>
          <p:nvPr/>
        </p:nvSpPr>
        <p:spPr>
          <a:xfrm>
            <a:off x="478716" y="3340023"/>
            <a:ext cx="4066155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Simple and fast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Often used as a baseline in literature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No contextual understanding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E351C0-B4F7-021C-CE3B-31B5DA3EDD70}"/>
              </a:ext>
            </a:extLst>
          </p:cNvPr>
          <p:cNvSpPr/>
          <p:nvPr/>
        </p:nvSpPr>
        <p:spPr>
          <a:xfrm>
            <a:off x="657225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Support Vector Machines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A00E6-78FE-068D-3080-CF3EB34FA278}"/>
              </a:ext>
            </a:extLst>
          </p:cNvPr>
          <p:cNvSpPr/>
          <p:nvPr/>
        </p:nvSpPr>
        <p:spPr>
          <a:xfrm>
            <a:off x="3662446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F472D-737B-F269-94D8-50F8D52C51C4}"/>
              </a:ext>
            </a:extLst>
          </p:cNvPr>
          <p:cNvSpPr/>
          <p:nvPr/>
        </p:nvSpPr>
        <p:spPr>
          <a:xfrm>
            <a:off x="6667667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2.0 Flash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45BAB6-F8E5-3AB6-8773-A5D7D624BB8A}"/>
              </a:ext>
            </a:extLst>
          </p:cNvPr>
          <p:cNvSpPr/>
          <p:nvPr/>
        </p:nvSpPr>
        <p:spPr>
          <a:xfrm>
            <a:off x="9672888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Ensemble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630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25347-42A8-9120-4768-82FE5DA9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01B2A8-39B7-9A49-F492-7CDE816BCE60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pipelines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E6E2F-8287-CF77-6FF9-270106953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DEF2187-675D-41EA-46CA-118D52104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7258600-DAB8-2F09-A66B-5C87A8094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4CE86D-17FC-1E63-18D4-D37D025FF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837" y="2990622"/>
            <a:ext cx="6544588" cy="3258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CD0F04-1F1F-5621-47DB-97224F2EC71F}"/>
              </a:ext>
            </a:extLst>
          </p:cNvPr>
          <p:cNvSpPr txBox="1"/>
          <p:nvPr/>
        </p:nvSpPr>
        <p:spPr>
          <a:xfrm>
            <a:off x="191259" y="3130498"/>
            <a:ext cx="4066155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Base model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Shown to improve performance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Contextual understanding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Ran locally, but with higher compute requirements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FD3570-60D5-F2A4-1037-7525592F2888}"/>
              </a:ext>
            </a:extLst>
          </p:cNvPr>
          <p:cNvSpPr/>
          <p:nvPr/>
        </p:nvSpPr>
        <p:spPr>
          <a:xfrm>
            <a:off x="657225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Support Vector Machines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5C38A0-BE53-D043-6102-771398FC063D}"/>
              </a:ext>
            </a:extLst>
          </p:cNvPr>
          <p:cNvSpPr/>
          <p:nvPr/>
        </p:nvSpPr>
        <p:spPr>
          <a:xfrm>
            <a:off x="3662446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21457-A200-BCE0-43FD-59ECC8BE1235}"/>
              </a:ext>
            </a:extLst>
          </p:cNvPr>
          <p:cNvSpPr/>
          <p:nvPr/>
        </p:nvSpPr>
        <p:spPr>
          <a:xfrm>
            <a:off x="6667667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2.0 Flash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46E2B3-C9C0-4251-E2D5-44A5DB6A2229}"/>
              </a:ext>
            </a:extLst>
          </p:cNvPr>
          <p:cNvSpPr/>
          <p:nvPr/>
        </p:nvSpPr>
        <p:spPr>
          <a:xfrm>
            <a:off x="9672888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Ensemble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07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82AC0-6B3D-8EE6-2C0F-B28A0519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EB11ED-9B3B-E06F-4878-0C152324EF5E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pipelines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B3757-FB54-529A-5E9F-B4E0562B6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E0C4B34-C103-CFBC-6F5C-D4F4CB25B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7D9AB4AC-C40E-F3A1-55EA-F2B7FDC94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AB99C5-764C-2627-7B48-F52FD2D5C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88" y="2719133"/>
            <a:ext cx="6430272" cy="3648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89CD2B-BC97-964C-4F55-93AE2B693ADA}"/>
              </a:ext>
            </a:extLst>
          </p:cNvPr>
          <p:cNvSpPr txBox="1"/>
          <p:nvPr/>
        </p:nvSpPr>
        <p:spPr>
          <a:xfrm>
            <a:off x="191259" y="3066882"/>
            <a:ext cx="4066155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No training required – easy to add diseases to the list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Advanced understanding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Smaller LLM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Requires post-processing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900C0F-409B-9BBD-03AD-7CB013AB7ACA}"/>
              </a:ext>
            </a:extLst>
          </p:cNvPr>
          <p:cNvSpPr/>
          <p:nvPr/>
        </p:nvSpPr>
        <p:spPr>
          <a:xfrm>
            <a:off x="657225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Support Vector Machines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599949-F107-4934-6FF0-D55C633F831D}"/>
              </a:ext>
            </a:extLst>
          </p:cNvPr>
          <p:cNvSpPr/>
          <p:nvPr/>
        </p:nvSpPr>
        <p:spPr>
          <a:xfrm>
            <a:off x="3662446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E9D9B2-5F9D-B3AF-3746-E3F48E535879}"/>
              </a:ext>
            </a:extLst>
          </p:cNvPr>
          <p:cNvSpPr/>
          <p:nvPr/>
        </p:nvSpPr>
        <p:spPr>
          <a:xfrm>
            <a:off x="6667667" y="1520943"/>
            <a:ext cx="1861887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2.0 Flash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C8BC1E-DC7F-64A2-409F-7A4EC29AF0D5}"/>
              </a:ext>
            </a:extLst>
          </p:cNvPr>
          <p:cNvSpPr/>
          <p:nvPr/>
        </p:nvSpPr>
        <p:spPr>
          <a:xfrm>
            <a:off x="9672888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Ensemble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035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2EAE-4089-EFB8-A961-B00BF510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5FDC7E-E766-F786-5A10-1D9A145F10F2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Experiment pipelines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3BFE1-65D6-3506-26BF-05EFED9ED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55DBE0C-E0F6-0A62-8D9B-61B81D25B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358757D-2F7B-799C-BE03-F6DAC2BFA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D0D292-2562-5BB9-BF2D-EA3371CEDAF6}"/>
              </a:ext>
            </a:extLst>
          </p:cNvPr>
          <p:cNvSpPr txBox="1"/>
          <p:nvPr/>
        </p:nvSpPr>
        <p:spPr>
          <a:xfrm>
            <a:off x="657225" y="2997148"/>
            <a:ext cx="7733541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Only in the disease classification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Combining three models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Tested: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Prediction union = any model identifies a disease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tx2"/>
                </a:solidFill>
              </a:rPr>
              <a:t>Majority voting = 2 out of 3 agree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84E9E8-7C72-2482-CB1C-71C48C652E37}"/>
              </a:ext>
            </a:extLst>
          </p:cNvPr>
          <p:cNvSpPr/>
          <p:nvPr/>
        </p:nvSpPr>
        <p:spPr>
          <a:xfrm>
            <a:off x="657225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Support Vector Machines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5FAED2-B8CA-E8A6-0FFF-318522AC1233}"/>
              </a:ext>
            </a:extLst>
          </p:cNvPr>
          <p:cNvSpPr/>
          <p:nvPr/>
        </p:nvSpPr>
        <p:spPr>
          <a:xfrm>
            <a:off x="3662446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E96C4-A65C-DB36-88C7-56395B64155C}"/>
              </a:ext>
            </a:extLst>
          </p:cNvPr>
          <p:cNvSpPr/>
          <p:nvPr/>
        </p:nvSpPr>
        <p:spPr>
          <a:xfrm>
            <a:off x="6667667" y="1520943"/>
            <a:ext cx="1861887" cy="8763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2.0 Flash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2DD491-25F3-BE88-BAD9-7BCD84018414}"/>
              </a:ext>
            </a:extLst>
          </p:cNvPr>
          <p:cNvSpPr/>
          <p:nvPr/>
        </p:nvSpPr>
        <p:spPr>
          <a:xfrm>
            <a:off x="9672888" y="1520943"/>
            <a:ext cx="1861887" cy="8763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Ensemble</a:t>
            </a:r>
            <a:endParaRPr lang="en-US" dirty="0"/>
          </a:p>
        </p:txBody>
      </p:sp>
      <p:pic>
        <p:nvPicPr>
          <p:cNvPr id="13" name="Graphic 12" descr="Badge Tick with solid fill">
            <a:extLst>
              <a:ext uri="{FF2B5EF4-FFF2-40B4-BE49-F238E27FC236}">
                <a16:creationId xmlns:a16="http://schemas.microsoft.com/office/drawing/2014/main" id="{93456529-CBD6-B733-B00C-438B6D7C18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9070" y="2997147"/>
            <a:ext cx="1150883" cy="1150883"/>
          </a:xfrm>
          <a:prstGeom prst="rect">
            <a:avLst/>
          </a:prstGeom>
        </p:spPr>
      </p:pic>
      <p:pic>
        <p:nvPicPr>
          <p:cNvPr id="15" name="Graphic 14" descr="Badge Cross with solid fill">
            <a:extLst>
              <a:ext uri="{FF2B5EF4-FFF2-40B4-BE49-F238E27FC236}">
                <a16:creationId xmlns:a16="http://schemas.microsoft.com/office/drawing/2014/main" id="{A78E88C2-B034-687E-3DC4-F524D207DD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5154" y="3102032"/>
            <a:ext cx="914400" cy="914400"/>
          </a:xfrm>
          <a:prstGeom prst="rect">
            <a:avLst/>
          </a:prstGeom>
        </p:spPr>
      </p:pic>
      <p:pic>
        <p:nvPicPr>
          <p:cNvPr id="16" name="Graphic 15" descr="Badge Tick with solid fill">
            <a:extLst>
              <a:ext uri="{FF2B5EF4-FFF2-40B4-BE49-F238E27FC236}">
                <a16:creationId xmlns:a16="http://schemas.microsoft.com/office/drawing/2014/main" id="{6F133249-8D1C-0555-97E9-7805BBD795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7752" y="2997148"/>
            <a:ext cx="1150883" cy="1150883"/>
          </a:xfrm>
          <a:prstGeom prst="rect">
            <a:avLst/>
          </a:prstGeom>
        </p:spPr>
      </p:pic>
      <p:pic>
        <p:nvPicPr>
          <p:cNvPr id="17" name="Graphic 16" descr="Badge Tick with solid fill">
            <a:extLst>
              <a:ext uri="{FF2B5EF4-FFF2-40B4-BE49-F238E27FC236}">
                <a16:creationId xmlns:a16="http://schemas.microsoft.com/office/drawing/2014/main" id="{49169FB7-1A1E-0288-3A19-5BB0E1FDD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7752" y="4747936"/>
            <a:ext cx="1150883" cy="1150883"/>
          </a:xfrm>
          <a:prstGeom prst="rect">
            <a:avLst/>
          </a:prstGeom>
        </p:spPr>
      </p:pic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FBD53DD3-E72D-295F-9589-89A3652FD24A}"/>
              </a:ext>
            </a:extLst>
          </p:cNvPr>
          <p:cNvSpPr/>
          <p:nvPr/>
        </p:nvSpPr>
        <p:spPr>
          <a:xfrm rot="5400000">
            <a:off x="9316182" y="4141247"/>
            <a:ext cx="139691" cy="61802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47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101966-02D3-E6DA-4137-E73FA672C19D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BE789-9E0F-E47D-1F74-B3B62D297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8EF7010-6EB6-82D7-9AA7-001812F3B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BCE28CC-9319-D974-1137-E82A5E01A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CA694-7FC3-4885-A275-F5237AAE8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73" y="1295221"/>
            <a:ext cx="7681427" cy="5086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8BF77D-79B2-EC8C-5C67-17A714E8A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86" y="1295221"/>
            <a:ext cx="3125914" cy="4288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93EABA-F67C-8365-DBB0-CF03B1D1E91A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74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7344-901D-FC83-2B3A-0DBAC8030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891489-E846-1867-E571-CDE1DF87041B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A1E1A-31BC-93A8-34F3-DDF2B249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577E848-5014-242B-8CCF-5D3E8E0FB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450220E-6DB6-8A28-2A6F-C635E18D1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A88A1-2C21-F012-9145-0F8AB3041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73" y="1295221"/>
            <a:ext cx="7681427" cy="5086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BCAFB7-200B-0A4E-0851-513B6A5941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86" y="1295221"/>
            <a:ext cx="3125914" cy="428804"/>
          </a:xfrm>
          <a:prstGeom prst="rect">
            <a:avLst/>
          </a:prstGeom>
        </p:spPr>
      </p:pic>
      <p:sp>
        <p:nvSpPr>
          <p:cNvPr id="2" name="Arrow: Notched Right 1">
            <a:extLst>
              <a:ext uri="{FF2B5EF4-FFF2-40B4-BE49-F238E27FC236}">
                <a16:creationId xmlns:a16="http://schemas.microsoft.com/office/drawing/2014/main" id="{A7A3213A-9267-57B5-05C2-5308E2D0973A}"/>
              </a:ext>
            </a:extLst>
          </p:cNvPr>
          <p:cNvSpPr/>
          <p:nvPr/>
        </p:nvSpPr>
        <p:spPr>
          <a:xfrm rot="897709">
            <a:off x="2042476" y="2895677"/>
            <a:ext cx="5076825" cy="477483"/>
          </a:xfrm>
          <a:prstGeom prst="notched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B521B-580F-8514-B60F-D5541A6CC0F6}"/>
              </a:ext>
            </a:extLst>
          </p:cNvPr>
          <p:cNvSpPr/>
          <p:nvPr/>
        </p:nvSpPr>
        <p:spPr>
          <a:xfrm>
            <a:off x="8433385" y="2662337"/>
            <a:ext cx="3310939" cy="699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Abstract important, but good score still possible without it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FF5268-E640-B68C-C7FA-9F1EB8E64E39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64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97C0E-120A-23C4-0D29-8C4A55FA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BDEE25-3DB7-E891-4F7B-8C0E506472E5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A6F25-E759-123D-2457-BC246D322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4639D6B-92CE-6F35-FF60-9AB18D86A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231BFD9-56FB-E097-B77E-CC5ADF82C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036605-96A9-C36C-A7C8-415A54B8C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673" y="1295221"/>
            <a:ext cx="7681426" cy="5086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D4166A-8A7D-1100-B8BA-0CD986684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86" y="1295221"/>
            <a:ext cx="3125914" cy="4288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C097DE-EE4D-C4E1-6D0E-C577C5D7282B}"/>
              </a:ext>
            </a:extLst>
          </p:cNvPr>
          <p:cNvSpPr/>
          <p:nvPr/>
        </p:nvSpPr>
        <p:spPr>
          <a:xfrm>
            <a:off x="8433385" y="2662337"/>
            <a:ext cx="3310939" cy="69998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Abstract important, but good score still possible without 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B57730-34D2-2407-983A-D9841FF1208F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48C028-CEF7-EF0E-BD71-1472ACEFE558}"/>
              </a:ext>
            </a:extLst>
          </p:cNvPr>
          <p:cNvSpPr/>
          <p:nvPr/>
        </p:nvSpPr>
        <p:spPr>
          <a:xfrm>
            <a:off x="8433385" y="3433795"/>
            <a:ext cx="3310939" cy="490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 best overall; small margin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84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B83B-793C-C6DF-AE9C-7A139801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3B58BB-10C4-4BC2-6141-C21A71066EAB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88C8E-B3FF-4708-200A-7E72F633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19DE5BF-3293-FF7F-1EDB-68C9CB362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61C990B-AB38-E0FA-B1FD-C1B121E91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0EA067-0FB7-D66E-6FC2-A087A8D709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673" y="1295221"/>
            <a:ext cx="7681426" cy="5086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8A2B9B-0CC2-DE00-61C4-226259825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86" y="1295221"/>
            <a:ext cx="3125914" cy="4288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6A72D7-F942-A133-DED0-6066F44CAE1F}"/>
              </a:ext>
            </a:extLst>
          </p:cNvPr>
          <p:cNvSpPr/>
          <p:nvPr/>
        </p:nvSpPr>
        <p:spPr>
          <a:xfrm>
            <a:off x="8433385" y="2662337"/>
            <a:ext cx="3310939" cy="69998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Abstract important, but good score still possible without 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0A9FD8-621F-D60F-D483-D29BD140345E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1053A1-17CB-5F66-4DF3-911416639166}"/>
              </a:ext>
            </a:extLst>
          </p:cNvPr>
          <p:cNvSpPr/>
          <p:nvPr/>
        </p:nvSpPr>
        <p:spPr>
          <a:xfrm>
            <a:off x="8433385" y="3433795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 best overall; small margin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19B41-AB6B-B429-BC27-ECDFE58E4EEE}"/>
              </a:ext>
            </a:extLst>
          </p:cNvPr>
          <p:cNvSpPr/>
          <p:nvPr/>
        </p:nvSpPr>
        <p:spPr>
          <a:xfrm>
            <a:off x="5910262" y="3907632"/>
            <a:ext cx="604838" cy="2169318"/>
          </a:xfrm>
          <a:prstGeom prst="rect">
            <a:avLst/>
          </a:prstGeom>
          <a:solidFill>
            <a:srgbClr val="327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153A6-5E83-E1CE-3A6A-2EA463CF6413}"/>
              </a:ext>
            </a:extLst>
          </p:cNvPr>
          <p:cNvSpPr/>
          <p:nvPr/>
        </p:nvSpPr>
        <p:spPr>
          <a:xfrm>
            <a:off x="6862762" y="2062163"/>
            <a:ext cx="326232" cy="111918"/>
          </a:xfrm>
          <a:prstGeom prst="rect">
            <a:avLst/>
          </a:prstGeom>
          <a:solidFill>
            <a:srgbClr val="327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EEECD-9488-7CAB-445C-B31DAD1B7DBB}"/>
              </a:ext>
            </a:extLst>
          </p:cNvPr>
          <p:cNvSpPr/>
          <p:nvPr/>
        </p:nvSpPr>
        <p:spPr>
          <a:xfrm>
            <a:off x="8422938" y="3995772"/>
            <a:ext cx="3310939" cy="490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 good on titles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51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89811-712B-28EE-C2C8-ACCAD837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4281F1-E612-10FF-FC99-13A41FC20C3F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74B97-B985-E870-E283-655BD2013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E7AC48E-FA70-7049-6703-971ED91E5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9BA3BF3-3BDA-4B34-EB44-A1263E1E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D4CE02-5848-AA82-FE6E-4002AF01C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673" y="1295221"/>
            <a:ext cx="7681425" cy="5086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A0EDD0-B93C-BECB-2B73-B2CB7DF4C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86" y="1295221"/>
            <a:ext cx="3125914" cy="4288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B53235-4D0A-7537-0D05-77B177FC0E18}"/>
              </a:ext>
            </a:extLst>
          </p:cNvPr>
          <p:cNvSpPr/>
          <p:nvPr/>
        </p:nvSpPr>
        <p:spPr>
          <a:xfrm>
            <a:off x="8433385" y="2662337"/>
            <a:ext cx="3310939" cy="69998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Abstract important, but good score still possible without 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35935C-4858-892D-0BC2-FBEF4CE5593C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C38582-D95C-77C5-2183-1BF42E2E3531}"/>
              </a:ext>
            </a:extLst>
          </p:cNvPr>
          <p:cNvSpPr/>
          <p:nvPr/>
        </p:nvSpPr>
        <p:spPr>
          <a:xfrm>
            <a:off x="8433385" y="3433795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 best overall; small margin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D77485-5082-D5BF-42C6-161CD706D33D}"/>
              </a:ext>
            </a:extLst>
          </p:cNvPr>
          <p:cNvSpPr/>
          <p:nvPr/>
        </p:nvSpPr>
        <p:spPr>
          <a:xfrm>
            <a:off x="8422938" y="3995772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 good on titles only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78E66C-CD17-EE74-CF74-1C6FDDD64E6D}"/>
              </a:ext>
            </a:extLst>
          </p:cNvPr>
          <p:cNvSpPr/>
          <p:nvPr/>
        </p:nvSpPr>
        <p:spPr>
          <a:xfrm>
            <a:off x="8422938" y="4557749"/>
            <a:ext cx="3310939" cy="6507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significantly worse; driven by recall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07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C315-4414-DFF9-5426-E7E72009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0A9667-A1FA-AD44-5FC6-BF0FAC812C19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13E10-E419-EFAD-6F08-AB6B36769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2D430BA-D771-B431-DD57-11DCE983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4D44D43-2B2F-8488-A5ED-5666DCE82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2012D0-AD64-3068-9806-FECD84B126E8}"/>
              </a:ext>
            </a:extLst>
          </p:cNvPr>
          <p:cNvSpPr/>
          <p:nvPr/>
        </p:nvSpPr>
        <p:spPr>
          <a:xfrm>
            <a:off x="8433385" y="2662337"/>
            <a:ext cx="3310939" cy="69998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Abstract important, but good score still possible without 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1D6BEE-909F-2E5E-A8CB-DEED9B42009F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35E251-7C32-17FC-E724-80E7260E4993}"/>
              </a:ext>
            </a:extLst>
          </p:cNvPr>
          <p:cNvSpPr/>
          <p:nvPr/>
        </p:nvSpPr>
        <p:spPr>
          <a:xfrm>
            <a:off x="8433385" y="3433795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 best overall; small margin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56FCC3-1540-B243-4176-F5B5386E1BCE}"/>
              </a:ext>
            </a:extLst>
          </p:cNvPr>
          <p:cNvSpPr/>
          <p:nvPr/>
        </p:nvSpPr>
        <p:spPr>
          <a:xfrm>
            <a:off x="8422938" y="3995772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 good on titles only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E2005-5696-B804-CCE6-965AE2D8B7A3}"/>
              </a:ext>
            </a:extLst>
          </p:cNvPr>
          <p:cNvSpPr/>
          <p:nvPr/>
        </p:nvSpPr>
        <p:spPr>
          <a:xfrm>
            <a:off x="8422938" y="4557749"/>
            <a:ext cx="3310939" cy="650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significantly worse; driven by recall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FB145-5E43-DCB3-66F5-4030B8B5D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6" y="2717073"/>
            <a:ext cx="7264322" cy="192394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B982ED-95B6-793A-28C3-697681DBBF28}"/>
              </a:ext>
            </a:extLst>
          </p:cNvPr>
          <p:cNvSpPr/>
          <p:nvPr/>
        </p:nvSpPr>
        <p:spPr>
          <a:xfrm>
            <a:off x="8433384" y="5308692"/>
            <a:ext cx="3310939" cy="490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 most resource efficient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45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A266-19A7-3DB1-8327-1427F906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BBBBA5-650E-E48A-61AC-BCF3E4613C28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29292-F701-C139-5156-C7A00902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D05EE9D-2912-4148-A21C-E2127D62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E6CD845-7D72-9F9B-8DF6-E7B95F92C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32C97C-2E6C-3E4B-F4AD-849D5AA0E3B7}"/>
              </a:ext>
            </a:extLst>
          </p:cNvPr>
          <p:cNvSpPr/>
          <p:nvPr/>
        </p:nvSpPr>
        <p:spPr>
          <a:xfrm>
            <a:off x="8433385" y="2662337"/>
            <a:ext cx="3310939" cy="69998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Abstract important, but good score still possible without 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A043DF-BF65-7B63-0834-19F2F5714B09}"/>
              </a:ext>
            </a:extLst>
          </p:cNvPr>
          <p:cNvSpPr/>
          <p:nvPr/>
        </p:nvSpPr>
        <p:spPr>
          <a:xfrm>
            <a:off x="8433386" y="1990725"/>
            <a:ext cx="3310939" cy="5620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well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6D221-3BE9-6B9C-D92A-E6BA54B11A36}"/>
              </a:ext>
            </a:extLst>
          </p:cNvPr>
          <p:cNvSpPr/>
          <p:nvPr/>
        </p:nvSpPr>
        <p:spPr>
          <a:xfrm>
            <a:off x="8433385" y="3433795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BERT best overall; small margin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020F5-47DD-D215-894E-2A1657A3DC7D}"/>
              </a:ext>
            </a:extLst>
          </p:cNvPr>
          <p:cNvSpPr/>
          <p:nvPr/>
        </p:nvSpPr>
        <p:spPr>
          <a:xfrm>
            <a:off x="8422938" y="3995772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 good on titles only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3C965-BDD1-7D9E-E87A-47AFA2E54A87}"/>
              </a:ext>
            </a:extLst>
          </p:cNvPr>
          <p:cNvSpPr/>
          <p:nvPr/>
        </p:nvSpPr>
        <p:spPr>
          <a:xfrm>
            <a:off x="8422938" y="4557749"/>
            <a:ext cx="3310939" cy="650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significantly worse; driven by recall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DEB8B8-6128-2207-B198-650B554051C8}"/>
              </a:ext>
            </a:extLst>
          </p:cNvPr>
          <p:cNvSpPr/>
          <p:nvPr/>
        </p:nvSpPr>
        <p:spPr>
          <a:xfrm>
            <a:off x="8433384" y="5308692"/>
            <a:ext cx="3310939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 most resource efficient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6E699-71C7-E941-8458-54D7C5CEC768}"/>
              </a:ext>
            </a:extLst>
          </p:cNvPr>
          <p:cNvSpPr txBox="1"/>
          <p:nvPr/>
        </p:nvSpPr>
        <p:spPr>
          <a:xfrm>
            <a:off x="592505" y="1711868"/>
            <a:ext cx="7200141" cy="4424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RQ3: Failure modes: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Label errors in the data (both sources)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Impossible classification – full text needed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SVMs: diseases with similar symptoms to NTDs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Gemini: unclear NTD definition? - prompting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557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DF18-DB07-E0F7-23D7-AC0E7E7A8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57ED76-96B6-6181-3684-206B90A52D03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Inclusion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2342E-2587-01E7-4EB5-BB882092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2CF29CA-4BE0-66F6-B870-41182C810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1CE012B-B098-5A26-A190-0D2ADCB00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919684-CE1E-1E71-10CD-153AFC68BA18}"/>
              </a:ext>
            </a:extLst>
          </p:cNvPr>
          <p:cNvSpPr/>
          <p:nvPr/>
        </p:nvSpPr>
        <p:spPr>
          <a:xfrm>
            <a:off x="5829890" y="2132947"/>
            <a:ext cx="2965381" cy="6316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Abstract important, but good score still possible without it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87C2D-AB50-9DA5-C22D-3ECC7AEFD7C8}"/>
              </a:ext>
            </a:extLst>
          </p:cNvPr>
          <p:cNvSpPr/>
          <p:nvPr/>
        </p:nvSpPr>
        <p:spPr>
          <a:xfrm>
            <a:off x="5829891" y="1551844"/>
            <a:ext cx="2965381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All models performed well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357A2E-9A32-8D4D-6842-9BA65C3A60DC}"/>
              </a:ext>
            </a:extLst>
          </p:cNvPr>
          <p:cNvSpPr/>
          <p:nvPr/>
        </p:nvSpPr>
        <p:spPr>
          <a:xfrm>
            <a:off x="5829890" y="2864829"/>
            <a:ext cx="2965381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BERT best overall; small margin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1B76D2-9D65-46F5-6901-9AB1A35F21F9}"/>
              </a:ext>
            </a:extLst>
          </p:cNvPr>
          <p:cNvSpPr/>
          <p:nvPr/>
        </p:nvSpPr>
        <p:spPr>
          <a:xfrm>
            <a:off x="8880107" y="1551844"/>
            <a:ext cx="2965381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SVM good on titles only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3FEBA-2637-B647-B750-F7B96ECFD2EF}"/>
              </a:ext>
            </a:extLst>
          </p:cNvPr>
          <p:cNvSpPr/>
          <p:nvPr/>
        </p:nvSpPr>
        <p:spPr>
          <a:xfrm>
            <a:off x="8880107" y="2113821"/>
            <a:ext cx="2965381" cy="650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Gemini significantly worse; driven by recall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A785DF-8DBD-5A69-A7AF-87C61CB1A0D0}"/>
              </a:ext>
            </a:extLst>
          </p:cNvPr>
          <p:cNvSpPr/>
          <p:nvPr/>
        </p:nvSpPr>
        <p:spPr>
          <a:xfrm>
            <a:off x="8890553" y="2864764"/>
            <a:ext cx="2965381" cy="4905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SVM most resource efficient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9C398-D234-5723-2BF7-DA7EC305B619}"/>
              </a:ext>
            </a:extLst>
          </p:cNvPr>
          <p:cNvSpPr txBox="1"/>
          <p:nvPr/>
        </p:nvSpPr>
        <p:spPr>
          <a:xfrm>
            <a:off x="431713" y="1015020"/>
            <a:ext cx="5377485" cy="2980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RQ3: Failure modes: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Label errors in the data (both sources)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Impossible classification – full text needed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SVMs: diseases with similar symptoms to NTDs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Gemini: unclear NTD definition? - prompting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9D813-5F44-471B-CFA3-2391E78A12FE}"/>
              </a:ext>
            </a:extLst>
          </p:cNvPr>
          <p:cNvSpPr txBox="1"/>
          <p:nvPr/>
        </p:nvSpPr>
        <p:spPr>
          <a:xfrm>
            <a:off x="414674" y="4344147"/>
            <a:ext cx="10789047" cy="2208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AI can help in finding content for Info Platforms</a:t>
            </a:r>
          </a:p>
          <a:p>
            <a:pPr algn="ctr"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In practice SVMs preferred</a:t>
            </a:r>
          </a:p>
          <a:p>
            <a:pPr algn="ctr"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BERT for best classification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4B8869A-5C84-CD92-7016-FD72E7EDFF5A}"/>
              </a:ext>
            </a:extLst>
          </p:cNvPr>
          <p:cNvSpPr/>
          <p:nvPr/>
        </p:nvSpPr>
        <p:spPr>
          <a:xfrm rot="5400000">
            <a:off x="5671169" y="3452468"/>
            <a:ext cx="276058" cy="111562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833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17B4-6200-653C-6DF8-CF9A1693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600610-4983-71AF-3B40-3354E7E8BC64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1BCDB-6401-216A-BA69-5A24727BA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788BDF1-968D-D408-70E5-C65DEDD10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BA2C8E3-82E7-3288-9DB8-FCF3A55A9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488173-11EA-62E6-F8BB-08A3867598D1}"/>
              </a:ext>
            </a:extLst>
          </p:cNvPr>
          <p:cNvSpPr/>
          <p:nvPr/>
        </p:nvSpPr>
        <p:spPr>
          <a:xfrm>
            <a:off x="7792646" y="2165505"/>
            <a:ext cx="3951679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2FC686-6C42-B367-89AB-961859D80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" y="1571803"/>
            <a:ext cx="7093344" cy="420987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E9259D-0DCE-74B9-88A6-B2D7B812D61D}"/>
              </a:ext>
            </a:extLst>
          </p:cNvPr>
          <p:cNvCxnSpPr/>
          <p:nvPr/>
        </p:nvCxnSpPr>
        <p:spPr>
          <a:xfrm>
            <a:off x="1095375" y="3352800"/>
            <a:ext cx="5210175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037A55-F240-B1CA-7E2B-3844A3C67338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760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6035-AA49-775B-B658-48CAB557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1B4696-E2DB-8A9F-186F-7DF27E75F318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E2594-4A16-E649-BB96-FBA98EA7F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9859DE0-0B63-3FF4-51A1-82E53F4CE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42A3CD7-DF40-90F9-951B-DFB3F8AFE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9AE0FD-3610-4649-CB41-EDB129ACF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" y="1571803"/>
            <a:ext cx="7093344" cy="4209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FF017A-2856-06FD-E0CF-FFDF1C7CC53F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2D06F9E-054B-9603-10ED-A2BC2F860FE5}"/>
              </a:ext>
            </a:extLst>
          </p:cNvPr>
          <p:cNvSpPr/>
          <p:nvPr/>
        </p:nvSpPr>
        <p:spPr>
          <a:xfrm rot="2763107">
            <a:off x="1807642" y="2721822"/>
            <a:ext cx="355782" cy="1742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77D6B54-8C47-B979-9F6B-38600CBA9B8C}"/>
              </a:ext>
            </a:extLst>
          </p:cNvPr>
          <p:cNvSpPr/>
          <p:nvPr/>
        </p:nvSpPr>
        <p:spPr>
          <a:xfrm rot="2763107">
            <a:off x="3017317" y="2533296"/>
            <a:ext cx="355782" cy="1742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7CCBC57-DFE3-D391-B76D-356A4FDC2E90}"/>
              </a:ext>
            </a:extLst>
          </p:cNvPr>
          <p:cNvSpPr/>
          <p:nvPr/>
        </p:nvSpPr>
        <p:spPr>
          <a:xfrm rot="2763107">
            <a:off x="4274616" y="3153374"/>
            <a:ext cx="355782" cy="1742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7017A5-1250-8AE8-F617-D44BE77BD112}"/>
              </a:ext>
            </a:extLst>
          </p:cNvPr>
          <p:cNvSpPr/>
          <p:nvPr/>
        </p:nvSpPr>
        <p:spPr>
          <a:xfrm rot="2763107">
            <a:off x="5606396" y="2608473"/>
            <a:ext cx="355782" cy="1742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04A780-4370-A471-3F30-254C4C72ABB0}"/>
              </a:ext>
            </a:extLst>
          </p:cNvPr>
          <p:cNvSpPr/>
          <p:nvPr/>
        </p:nvSpPr>
        <p:spPr>
          <a:xfrm>
            <a:off x="7792646" y="2165505"/>
            <a:ext cx="395167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0EFE93-C819-27E4-F406-298DF6D8D79F}"/>
              </a:ext>
            </a:extLst>
          </p:cNvPr>
          <p:cNvSpPr/>
          <p:nvPr/>
        </p:nvSpPr>
        <p:spPr>
          <a:xfrm>
            <a:off x="7792646" y="2671019"/>
            <a:ext cx="3951679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36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F4FF-6A18-9F27-E4C6-EF8B8FDC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9980D7-D363-194E-6A50-37C4E353BABD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3A460-DB51-D5C6-5A4D-3ED21949A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5EDA687-199F-132C-CFB4-4521C340D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C90C19D-E060-4488-FFF2-A968CE033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C870B1-E14B-CE0E-D3F2-32EB80DAC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675" y="1571803"/>
            <a:ext cx="7093344" cy="42098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C7E876-F154-BD6A-DA6C-6415ACEF1548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1CFFD2-DE47-E8A3-E3A4-BA0AF17B824C}"/>
              </a:ext>
            </a:extLst>
          </p:cNvPr>
          <p:cNvSpPr/>
          <p:nvPr/>
        </p:nvSpPr>
        <p:spPr>
          <a:xfrm>
            <a:off x="7792646" y="2165505"/>
            <a:ext cx="395167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C532B-CB94-D732-A569-D56705A2D411}"/>
              </a:ext>
            </a:extLst>
          </p:cNvPr>
          <p:cNvSpPr/>
          <p:nvPr/>
        </p:nvSpPr>
        <p:spPr>
          <a:xfrm>
            <a:off x="7792646" y="2671019"/>
            <a:ext cx="395167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64B89-7A70-AD2A-4FFA-1BCE4AB244FF}"/>
              </a:ext>
            </a:extLst>
          </p:cNvPr>
          <p:cNvSpPr/>
          <p:nvPr/>
        </p:nvSpPr>
        <p:spPr>
          <a:xfrm>
            <a:off x="7792646" y="3176533"/>
            <a:ext cx="3951679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76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DD50-0207-47AE-3BB4-B4BE6933F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977848-D555-70C5-8D5E-CCF8692E218D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CF108-633A-D31F-B772-826EB8058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577309E-1E14-0204-1065-84B2128F4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74A2B076-8CD1-8C34-0D37-9D4DC92F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B63667-5F23-E8E3-686F-1E76097F5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676" y="1571803"/>
            <a:ext cx="7093342" cy="42098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5C4694-FA3F-98F8-937F-CE7A97CF7258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E1AC97-BF47-56D7-0DE4-859459381EBE}"/>
              </a:ext>
            </a:extLst>
          </p:cNvPr>
          <p:cNvSpPr/>
          <p:nvPr/>
        </p:nvSpPr>
        <p:spPr>
          <a:xfrm>
            <a:off x="7792646" y="2165505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4F5469-F1AE-2F85-6159-6C83650AA864}"/>
              </a:ext>
            </a:extLst>
          </p:cNvPr>
          <p:cNvSpPr/>
          <p:nvPr/>
        </p:nvSpPr>
        <p:spPr>
          <a:xfrm>
            <a:off x="7792646" y="2671019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4F6F4-6EBB-149B-3C22-5AF231F07728}"/>
              </a:ext>
            </a:extLst>
          </p:cNvPr>
          <p:cNvSpPr/>
          <p:nvPr/>
        </p:nvSpPr>
        <p:spPr>
          <a:xfrm>
            <a:off x="7792646" y="3176533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792F3E-952B-197F-CA2F-484241EB6886}"/>
              </a:ext>
            </a:extLst>
          </p:cNvPr>
          <p:cNvSpPr/>
          <p:nvPr/>
        </p:nvSpPr>
        <p:spPr>
          <a:xfrm>
            <a:off x="7792646" y="3676738"/>
            <a:ext cx="3951678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141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181C-09CF-C41D-140A-E577D2A6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26B499-0843-86A4-2B7A-554FC996A020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8DE83-5773-D3E3-6C6C-89ECAA486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3AA5CC8-B798-5AFA-826F-8964DBF42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7DF0D1B-02C6-E4BB-060D-3FA8290D5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AD3083-A66D-69FD-28A1-56581F32FB09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9AC1E-1351-BDE7-361C-C470E78B1CEA}"/>
              </a:ext>
            </a:extLst>
          </p:cNvPr>
          <p:cNvSpPr/>
          <p:nvPr/>
        </p:nvSpPr>
        <p:spPr>
          <a:xfrm>
            <a:off x="7792646" y="2165505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35C3F-F81A-A26B-C0F0-E486EAB79379}"/>
              </a:ext>
            </a:extLst>
          </p:cNvPr>
          <p:cNvSpPr/>
          <p:nvPr/>
        </p:nvSpPr>
        <p:spPr>
          <a:xfrm>
            <a:off x="7792646" y="2671019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8623C7-65C3-3F74-2C3D-4F613281D8A5}"/>
              </a:ext>
            </a:extLst>
          </p:cNvPr>
          <p:cNvSpPr/>
          <p:nvPr/>
        </p:nvSpPr>
        <p:spPr>
          <a:xfrm>
            <a:off x="7792646" y="3176533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1C3C54-9D14-1D6D-5AB9-CCDDD0CF1689}"/>
              </a:ext>
            </a:extLst>
          </p:cNvPr>
          <p:cNvSpPr/>
          <p:nvPr/>
        </p:nvSpPr>
        <p:spPr>
          <a:xfrm>
            <a:off x="7792646" y="3676738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5AFEDE-A0DE-FACE-5D47-CDD62A67B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6" y="2151163"/>
            <a:ext cx="6534149" cy="28383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347E84-C064-1342-298B-2BD1FAECFF8F}"/>
              </a:ext>
            </a:extLst>
          </p:cNvPr>
          <p:cNvSpPr/>
          <p:nvPr/>
        </p:nvSpPr>
        <p:spPr>
          <a:xfrm>
            <a:off x="7792646" y="4176943"/>
            <a:ext cx="3951678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data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84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D4A4-A4E6-ACBF-3697-91F7D432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4B237C-C9E2-3D05-6FA3-1297088E7DE5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B75597-CE89-6C05-AF65-6CCFDDE38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DF6F4DB-01B3-5300-4338-791387D86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03F6BC4-4BE5-1E90-6746-0F14AE8C3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CEFDDF-262E-AFE3-F18A-68BB9E633812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BF2501-EFE3-ED81-1C6D-F6C37EA70285}"/>
              </a:ext>
            </a:extLst>
          </p:cNvPr>
          <p:cNvSpPr/>
          <p:nvPr/>
        </p:nvSpPr>
        <p:spPr>
          <a:xfrm>
            <a:off x="7792646" y="216550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590C0-8CC8-AC35-5F8E-19F46FF4894D}"/>
              </a:ext>
            </a:extLst>
          </p:cNvPr>
          <p:cNvSpPr/>
          <p:nvPr/>
        </p:nvSpPr>
        <p:spPr>
          <a:xfrm>
            <a:off x="7792646" y="2671019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E5F012-7118-7471-B5B5-E62A33BA46DC}"/>
              </a:ext>
            </a:extLst>
          </p:cNvPr>
          <p:cNvSpPr/>
          <p:nvPr/>
        </p:nvSpPr>
        <p:spPr>
          <a:xfrm>
            <a:off x="7792646" y="3176533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3D303-9FD9-53B0-8C47-C57F13DBFC2C}"/>
              </a:ext>
            </a:extLst>
          </p:cNvPr>
          <p:cNvSpPr/>
          <p:nvPr/>
        </p:nvSpPr>
        <p:spPr>
          <a:xfrm>
            <a:off x="7792646" y="3676738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876A-8556-5ED2-C496-1F634A6C40CE}"/>
              </a:ext>
            </a:extLst>
          </p:cNvPr>
          <p:cNvSpPr/>
          <p:nvPr/>
        </p:nvSpPr>
        <p:spPr>
          <a:xfrm>
            <a:off x="7792646" y="417861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data needed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977D1C-9AA4-E02A-749E-30D6A8360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6" y="1702163"/>
            <a:ext cx="6654048" cy="39491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B68963A-01E2-CB5B-E1F9-E999053B12C8}"/>
              </a:ext>
            </a:extLst>
          </p:cNvPr>
          <p:cNvSpPr/>
          <p:nvPr/>
        </p:nvSpPr>
        <p:spPr>
          <a:xfrm>
            <a:off x="7792646" y="4680492"/>
            <a:ext cx="3951678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Better than keyword search</a:t>
            </a:r>
          </a:p>
        </p:txBody>
      </p:sp>
    </p:spTree>
    <p:extLst>
      <p:ext uri="{BB962C8B-B14F-4D97-AF65-F5344CB8AC3E}">
        <p14:creationId xmlns:p14="http://schemas.microsoft.com/office/powerpoint/2010/main" val="2503827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9706-BC4C-0810-E323-DC4E32A2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C90EAC-73B2-50C2-8E72-0D9744B64CD4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1F372B-B7B4-526C-8DC9-731DFD5B0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5A9C9BA-C2F9-6E0A-95FD-6188E4743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049108F-C16E-FF43-4B1C-0312B69F8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65DC31-AE31-2F93-9A3D-8868B36D92F0}"/>
              </a:ext>
            </a:extLst>
          </p:cNvPr>
          <p:cNvSpPr txBox="1"/>
          <p:nvPr/>
        </p:nvSpPr>
        <p:spPr>
          <a:xfrm>
            <a:off x="7722290" y="990045"/>
            <a:ext cx="4382398" cy="1010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Micro F1 = weighted by # samples in a disease</a:t>
            </a:r>
          </a:p>
          <a:p>
            <a:pPr>
              <a:lnSpc>
                <a:spcPct val="200000"/>
              </a:lnSpc>
            </a:pPr>
            <a:r>
              <a:rPr lang="pl-PL" sz="1600" b="1" dirty="0">
                <a:solidFill>
                  <a:schemeClr val="tx2"/>
                </a:solidFill>
              </a:rPr>
              <a:t>Macro F1 = all diseases same weight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C2433-0220-4F7F-2136-6616983147D3}"/>
              </a:ext>
            </a:extLst>
          </p:cNvPr>
          <p:cNvSpPr/>
          <p:nvPr/>
        </p:nvSpPr>
        <p:spPr>
          <a:xfrm>
            <a:off x="7792646" y="216550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FDD37F-CD4F-FA23-C830-1BDF2A9256CF}"/>
              </a:ext>
            </a:extLst>
          </p:cNvPr>
          <p:cNvSpPr/>
          <p:nvPr/>
        </p:nvSpPr>
        <p:spPr>
          <a:xfrm>
            <a:off x="7792646" y="2671019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A046D7-1B20-07E1-0B82-A46057F7AA4B}"/>
              </a:ext>
            </a:extLst>
          </p:cNvPr>
          <p:cNvSpPr/>
          <p:nvPr/>
        </p:nvSpPr>
        <p:spPr>
          <a:xfrm>
            <a:off x="7792646" y="3176533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38FF6D-5E18-B8D4-EF28-0FFA96EF2653}"/>
              </a:ext>
            </a:extLst>
          </p:cNvPr>
          <p:cNvSpPr/>
          <p:nvPr/>
        </p:nvSpPr>
        <p:spPr>
          <a:xfrm>
            <a:off x="7792646" y="3676738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30565-E0C0-2EFF-D28D-7E98BE80B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34" y="2590912"/>
            <a:ext cx="6858692" cy="18004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A9C7CA3-58E3-7A13-D31A-80ED4FCADCF7}"/>
              </a:ext>
            </a:extLst>
          </p:cNvPr>
          <p:cNvSpPr/>
          <p:nvPr/>
        </p:nvSpPr>
        <p:spPr>
          <a:xfrm>
            <a:off x="7792646" y="417861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data needed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41CA71-C9AB-5619-7BA4-35A9E12AF47E}"/>
              </a:ext>
            </a:extLst>
          </p:cNvPr>
          <p:cNvSpPr/>
          <p:nvPr/>
        </p:nvSpPr>
        <p:spPr>
          <a:xfrm>
            <a:off x="7792646" y="5180697"/>
            <a:ext cx="3951678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SVMs most efficient, Gemini 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295BE-B103-7B80-55A4-2F3F5D6F1646}"/>
              </a:ext>
            </a:extLst>
          </p:cNvPr>
          <p:cNvSpPr/>
          <p:nvPr/>
        </p:nvSpPr>
        <p:spPr>
          <a:xfrm>
            <a:off x="7792646" y="4680492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Better than keyword search</a:t>
            </a:r>
          </a:p>
        </p:txBody>
      </p:sp>
    </p:spTree>
    <p:extLst>
      <p:ext uri="{BB962C8B-B14F-4D97-AF65-F5344CB8AC3E}">
        <p14:creationId xmlns:p14="http://schemas.microsoft.com/office/powerpoint/2010/main" val="351912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4355-DA91-1555-3CC2-A1950178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49FD8E-B43D-E641-1F29-59C298EB1484}"/>
              </a:ext>
            </a:extLst>
          </p:cNvPr>
          <p:cNvSpPr txBox="1">
            <a:spLocks/>
          </p:cNvSpPr>
          <p:nvPr/>
        </p:nvSpPr>
        <p:spPr>
          <a:xfrm>
            <a:off x="87312" y="52732"/>
            <a:ext cx="10617200" cy="1323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</a:p>
          <a:p>
            <a:r>
              <a:rPr lang="pl-PL" sz="25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RQ3: Misclassifications</a:t>
            </a:r>
            <a:endParaRPr lang="en-US" sz="25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A84F8-4746-B3AC-6E2D-A39A8F8B1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7CBDCAC-187B-7A0C-8F5F-BCAF621E2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1870E4E-BE99-5BFB-8D8B-3B42AF967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FE7CD7-8F6D-35CC-4934-1BE7CEBCCF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175" y="1833047"/>
            <a:ext cx="7029450" cy="406093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F4F6E41-5083-6E14-3369-17FD10A6B892}"/>
              </a:ext>
            </a:extLst>
          </p:cNvPr>
          <p:cNvSpPr/>
          <p:nvPr/>
        </p:nvSpPr>
        <p:spPr>
          <a:xfrm>
            <a:off x="7792646" y="216550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3A2556-2E89-F09E-33F9-57821B51FF3E}"/>
              </a:ext>
            </a:extLst>
          </p:cNvPr>
          <p:cNvSpPr/>
          <p:nvPr/>
        </p:nvSpPr>
        <p:spPr>
          <a:xfrm>
            <a:off x="7792646" y="2671019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12DBB-5A55-B269-6C91-12008B3EB6E3}"/>
              </a:ext>
            </a:extLst>
          </p:cNvPr>
          <p:cNvSpPr/>
          <p:nvPr/>
        </p:nvSpPr>
        <p:spPr>
          <a:xfrm>
            <a:off x="7792646" y="3176533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6231C3-A5A0-2A5B-C4B9-A1B491523E04}"/>
              </a:ext>
            </a:extLst>
          </p:cNvPr>
          <p:cNvSpPr/>
          <p:nvPr/>
        </p:nvSpPr>
        <p:spPr>
          <a:xfrm>
            <a:off x="7792646" y="3676738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924F96-915B-5A9E-4C61-12B5E156F42D}"/>
              </a:ext>
            </a:extLst>
          </p:cNvPr>
          <p:cNvSpPr/>
          <p:nvPr/>
        </p:nvSpPr>
        <p:spPr>
          <a:xfrm>
            <a:off x="7792646" y="417861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data needed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1E46E9-5C13-0C99-6D40-9A60712C69C0}"/>
              </a:ext>
            </a:extLst>
          </p:cNvPr>
          <p:cNvSpPr/>
          <p:nvPr/>
        </p:nvSpPr>
        <p:spPr>
          <a:xfrm>
            <a:off x="7792646" y="5180697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SVMs most efficient, Gemini close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CB006A-86C7-F8EF-D7DA-3ADB12896377}"/>
              </a:ext>
            </a:extLst>
          </p:cNvPr>
          <p:cNvSpPr/>
          <p:nvPr/>
        </p:nvSpPr>
        <p:spPr>
          <a:xfrm>
            <a:off x="7792646" y="4680492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Better than keyword search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2E2081-1700-FF69-FA30-92EF778CBFCC}"/>
              </a:ext>
            </a:extLst>
          </p:cNvPr>
          <p:cNvSpPr/>
          <p:nvPr/>
        </p:nvSpPr>
        <p:spPr>
          <a:xfrm>
            <a:off x="7793844" y="5691520"/>
            <a:ext cx="3951678" cy="425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labels = harder task</a:t>
            </a:r>
          </a:p>
        </p:txBody>
      </p:sp>
    </p:spTree>
    <p:extLst>
      <p:ext uri="{BB962C8B-B14F-4D97-AF65-F5344CB8AC3E}">
        <p14:creationId xmlns:p14="http://schemas.microsoft.com/office/powerpoint/2010/main" val="1546168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6001-CD56-BDA4-B5C4-1E66799C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23A3C2-7E2C-AB62-3460-7F17CD3EADFF}"/>
              </a:ext>
            </a:extLst>
          </p:cNvPr>
          <p:cNvSpPr txBox="1">
            <a:spLocks/>
          </p:cNvSpPr>
          <p:nvPr/>
        </p:nvSpPr>
        <p:spPr>
          <a:xfrm>
            <a:off x="87312" y="52732"/>
            <a:ext cx="10617200" cy="1323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</a:p>
          <a:p>
            <a:r>
              <a:rPr lang="pl-PL" sz="25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RQ3: Misclassifications</a:t>
            </a:r>
            <a:endParaRPr lang="en-US" sz="25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C0B75-806A-3924-D954-71746C39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5B9D3F0-365C-6BD1-E773-D7A6955A1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A0DD360-E656-F74D-1B65-C87F68FBC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F00682A-C91E-D169-329A-E91FB3AAB024}"/>
              </a:ext>
            </a:extLst>
          </p:cNvPr>
          <p:cNvSpPr/>
          <p:nvPr/>
        </p:nvSpPr>
        <p:spPr>
          <a:xfrm>
            <a:off x="7792646" y="216550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200257-D191-8F4C-3281-40F1B813E3F7}"/>
              </a:ext>
            </a:extLst>
          </p:cNvPr>
          <p:cNvSpPr/>
          <p:nvPr/>
        </p:nvSpPr>
        <p:spPr>
          <a:xfrm>
            <a:off x="7792646" y="2671019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A63FBF-A431-8914-010F-48E0D1D574B4}"/>
              </a:ext>
            </a:extLst>
          </p:cNvPr>
          <p:cNvSpPr/>
          <p:nvPr/>
        </p:nvSpPr>
        <p:spPr>
          <a:xfrm>
            <a:off x="7792646" y="3176533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A5153B-F478-2948-C05E-F5D15351B94F}"/>
              </a:ext>
            </a:extLst>
          </p:cNvPr>
          <p:cNvSpPr/>
          <p:nvPr/>
        </p:nvSpPr>
        <p:spPr>
          <a:xfrm>
            <a:off x="7792646" y="3676738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C428CA-A767-A82E-A3D2-F05C7083F19C}"/>
              </a:ext>
            </a:extLst>
          </p:cNvPr>
          <p:cNvSpPr/>
          <p:nvPr/>
        </p:nvSpPr>
        <p:spPr>
          <a:xfrm>
            <a:off x="7792646" y="4178615"/>
            <a:ext cx="393262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data needed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80045-BDA2-98A5-ECCC-FA7F0D456BF2}"/>
              </a:ext>
            </a:extLst>
          </p:cNvPr>
          <p:cNvSpPr/>
          <p:nvPr/>
        </p:nvSpPr>
        <p:spPr>
          <a:xfrm>
            <a:off x="7792646" y="5180697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SVMs most efficient, Gemini close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30091D-E7A6-151A-41D7-782E620448A2}"/>
              </a:ext>
            </a:extLst>
          </p:cNvPr>
          <p:cNvSpPr/>
          <p:nvPr/>
        </p:nvSpPr>
        <p:spPr>
          <a:xfrm>
            <a:off x="7792646" y="4680492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Better than keyword search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29B896-A0F9-8C7D-8ED0-A99646F81D2D}"/>
              </a:ext>
            </a:extLst>
          </p:cNvPr>
          <p:cNvSpPr/>
          <p:nvPr/>
        </p:nvSpPr>
        <p:spPr>
          <a:xfrm>
            <a:off x="7793844" y="5691520"/>
            <a:ext cx="3951678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labels = harder task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94B00E-C8A4-B7E4-5F15-95DA4AE994AE}"/>
              </a:ext>
            </a:extLst>
          </p:cNvPr>
          <p:cNvSpPr txBox="1"/>
          <p:nvPr/>
        </p:nvSpPr>
        <p:spPr>
          <a:xfrm>
            <a:off x="247650" y="1464305"/>
            <a:ext cx="7200141" cy="4378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Failure modes: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4 outstanding diseases</a:t>
            </a:r>
            <a:endParaRPr lang="pl-PL" sz="105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Usually cases of multiple labels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Lymphatic filariasis and podoconiosis confusion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Data was the driver, not models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9FAC7-2F81-DB13-87CA-3BF469E8FE94}"/>
              </a:ext>
            </a:extLst>
          </p:cNvPr>
          <p:cNvSpPr txBox="1"/>
          <p:nvPr/>
        </p:nvSpPr>
        <p:spPr>
          <a:xfrm>
            <a:off x="466725" y="2914923"/>
            <a:ext cx="4129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100" b="1" dirty="0">
                <a:solidFill>
                  <a:schemeClr val="tx2"/>
                </a:solidFill>
              </a:rPr>
              <a:t>(dracunculiasis, lymphatic filariasis, podoconiosis, and yaws)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01637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5F92-0B77-5DE3-75A8-AA90B647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07B286-A0E5-4B44-4412-E72EC47D1906}"/>
              </a:ext>
            </a:extLst>
          </p:cNvPr>
          <p:cNvSpPr txBox="1">
            <a:spLocks/>
          </p:cNvSpPr>
          <p:nvPr/>
        </p:nvSpPr>
        <p:spPr>
          <a:xfrm>
            <a:off x="87312" y="52732"/>
            <a:ext cx="10617200" cy="1323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RQ2: Disease task results</a:t>
            </a:r>
          </a:p>
          <a:p>
            <a:r>
              <a:rPr lang="pl-PL" sz="25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RQ3: Misclassifications</a:t>
            </a:r>
            <a:endParaRPr lang="en-US" sz="25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0C2B6-04FA-D952-7746-E47A57959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8CC38BE-FD70-5E92-4618-105FC68CE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FB0EF58-2B29-AE6B-1EB0-C96F988A5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B366D57-EADF-A507-213C-87D50D5024BB}"/>
              </a:ext>
            </a:extLst>
          </p:cNvPr>
          <p:cNvSpPr/>
          <p:nvPr/>
        </p:nvSpPr>
        <p:spPr>
          <a:xfrm>
            <a:off x="4392222" y="1451326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All models performed very well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920B14-6E24-3576-3C33-BB8AC25F4A54}"/>
              </a:ext>
            </a:extLst>
          </p:cNvPr>
          <p:cNvSpPr/>
          <p:nvPr/>
        </p:nvSpPr>
        <p:spPr>
          <a:xfrm>
            <a:off x="4392222" y="1956840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samples = better results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B9701-73E2-42A2-E8E1-1D77EBCE99F5}"/>
              </a:ext>
            </a:extLst>
          </p:cNvPr>
          <p:cNvSpPr/>
          <p:nvPr/>
        </p:nvSpPr>
        <p:spPr>
          <a:xfrm>
            <a:off x="4392222" y="2462354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Non-complementary errors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11E240-8230-FC6D-5211-011795E9C137}"/>
              </a:ext>
            </a:extLst>
          </p:cNvPr>
          <p:cNvSpPr/>
          <p:nvPr/>
        </p:nvSpPr>
        <p:spPr>
          <a:xfrm>
            <a:off x="4392222" y="2962559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Gemini closer in performence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2A3928-1B5B-C9E8-C952-A05C84C027F1}"/>
              </a:ext>
            </a:extLst>
          </p:cNvPr>
          <p:cNvSpPr/>
          <p:nvPr/>
        </p:nvSpPr>
        <p:spPr>
          <a:xfrm>
            <a:off x="8221272" y="1449654"/>
            <a:ext cx="3316489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Large data needed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798F84-36C2-0246-D082-174AB19C6894}"/>
              </a:ext>
            </a:extLst>
          </p:cNvPr>
          <p:cNvSpPr/>
          <p:nvPr/>
        </p:nvSpPr>
        <p:spPr>
          <a:xfrm>
            <a:off x="8221272" y="2451736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/>
              <a:t>SVMs most efficient, Gemini close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95639F-020A-9962-2D73-3916B983046E}"/>
              </a:ext>
            </a:extLst>
          </p:cNvPr>
          <p:cNvSpPr/>
          <p:nvPr/>
        </p:nvSpPr>
        <p:spPr>
          <a:xfrm>
            <a:off x="8221272" y="1951531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Better than keyword search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DDAA05-6DFD-E404-6D77-955B6F553FBA}"/>
              </a:ext>
            </a:extLst>
          </p:cNvPr>
          <p:cNvSpPr/>
          <p:nvPr/>
        </p:nvSpPr>
        <p:spPr>
          <a:xfrm>
            <a:off x="8222470" y="2962559"/>
            <a:ext cx="3332554" cy="42540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labels = harder task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467E5A-4AB9-F0A6-4AB4-B7AAB97938FB}"/>
              </a:ext>
            </a:extLst>
          </p:cNvPr>
          <p:cNvSpPr txBox="1"/>
          <p:nvPr/>
        </p:nvSpPr>
        <p:spPr>
          <a:xfrm>
            <a:off x="400051" y="1376528"/>
            <a:ext cx="4171950" cy="198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Failure modes: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 outstanding diseases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Smaller sample = larger impact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Usually cases of multiple labels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Lymphatic filariasis and podoconiosis confusion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was the driver, not models</a:t>
            </a:r>
            <a:endParaRPr lang="en-US" sz="10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22B9A1B4-107E-D771-7ECA-9F42AFE6F6B6}"/>
              </a:ext>
            </a:extLst>
          </p:cNvPr>
          <p:cNvSpPr/>
          <p:nvPr/>
        </p:nvSpPr>
        <p:spPr>
          <a:xfrm rot="5400000">
            <a:off x="5671169" y="3366743"/>
            <a:ext cx="276058" cy="111562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5D0CD-B198-CDA2-631E-D94EE86E3CE1}"/>
              </a:ext>
            </a:extLst>
          </p:cNvPr>
          <p:cNvSpPr txBox="1"/>
          <p:nvPr/>
        </p:nvSpPr>
        <p:spPr>
          <a:xfrm>
            <a:off x="414674" y="4344147"/>
            <a:ext cx="10789047" cy="2208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AI can identify the diseases very well</a:t>
            </a:r>
          </a:p>
          <a:p>
            <a:pPr algn="ctr"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In practice SVMs preferred</a:t>
            </a:r>
          </a:p>
          <a:p>
            <a:pPr algn="ctr">
              <a:lnSpc>
                <a:spcPct val="200000"/>
              </a:lnSpc>
            </a:pPr>
            <a:r>
              <a:rPr lang="pl-PL" sz="2400" b="1" dirty="0">
                <a:solidFill>
                  <a:schemeClr val="tx2"/>
                </a:solidFill>
              </a:rPr>
              <a:t>Gemini 2.0 Flash for simple taxonomy adjustments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821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73DE-7851-7550-EF7C-A7E0D65F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5C8005-62B3-75AF-1CAA-0A2DE083A556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PubMed historical data analysis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F5C3D-FD05-880F-9757-DED3BB417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D053EED-02E4-2359-A84A-11716C7DD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9EA695E-EFA5-F593-1D35-9EC5A0E84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6FEC33-5A40-CF9D-FA01-06AC9A19E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19" y="1352549"/>
            <a:ext cx="948317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968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0D15-CA1B-1F62-BD7E-683445EDB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666577-F6B9-81EF-A165-66FBC3EDF922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PubMed historical data analysis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475FA-DD22-941B-5CE7-24994F55F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1428547-0303-1356-AF48-CED7A286E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7F63EF8-C820-5BC8-0C24-23864BDA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DF2D41-913E-73AF-29E9-6B7B4421B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419" y="1352549"/>
            <a:ext cx="9483170" cy="54387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42371-D4EE-9057-904A-2E7A7F3312E3}"/>
              </a:ext>
            </a:extLst>
          </p:cNvPr>
          <p:cNvSpPr txBox="1"/>
          <p:nvPr/>
        </p:nvSpPr>
        <p:spPr>
          <a:xfrm>
            <a:off x="9713913" y="1619250"/>
            <a:ext cx="23907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000" b="1" dirty="0">
                <a:solidFill>
                  <a:schemeClr val="tx2"/>
                </a:solidFill>
              </a:rPr>
              <a:t>162k</a:t>
            </a:r>
          </a:p>
          <a:p>
            <a:pPr algn="ctr"/>
            <a:r>
              <a:rPr lang="pl-PL" b="1" dirty="0">
                <a:solidFill>
                  <a:schemeClr val="tx2"/>
                </a:solidFill>
              </a:rPr>
              <a:t>New publications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76429-8B52-36A7-BAEA-BDA3BB597D98}"/>
              </a:ext>
            </a:extLst>
          </p:cNvPr>
          <p:cNvSpPr txBox="1"/>
          <p:nvPr/>
        </p:nvSpPr>
        <p:spPr>
          <a:xfrm>
            <a:off x="9674225" y="3178613"/>
            <a:ext cx="23907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000" b="1" dirty="0">
                <a:solidFill>
                  <a:schemeClr val="tx2"/>
                </a:solidFill>
              </a:rPr>
              <a:t>92%</a:t>
            </a:r>
          </a:p>
          <a:p>
            <a:pPr algn="ctr"/>
            <a:r>
              <a:rPr lang="pl-PL" b="1" dirty="0">
                <a:solidFill>
                  <a:schemeClr val="tx2"/>
                </a:solidFill>
              </a:rPr>
              <a:t>Recall</a:t>
            </a:r>
          </a:p>
          <a:p>
            <a:pPr algn="ctr"/>
            <a:r>
              <a:rPr lang="pl-PL" sz="1400" b="1" dirty="0">
                <a:solidFill>
                  <a:schemeClr val="tx2"/>
                </a:solidFill>
              </a:rPr>
              <a:t>With prob. threshold 0.5</a:t>
            </a:r>
            <a:endParaRPr lang="en-US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72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38A3-0AA1-16E4-0831-254E867B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DF0A7C-4C04-9932-6185-CC82E3EBC703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RQ4: Proof of concept tool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85F15-D939-65CB-20F6-DAE5049FF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3CC26F1-8215-8C25-890B-E92E987A5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F39DFAC-B4D0-0F9A-EECB-3F4015793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F1CCA5-EAC4-B382-E5FF-42A48D682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965" y="787512"/>
            <a:ext cx="4763787" cy="57702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1D2119-052E-08F5-8FAB-5407327E2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3928" y="1908696"/>
            <a:ext cx="6825192" cy="30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67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1BE6-31A6-1A0F-D9C9-2CF6D1C2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0AC025-99BB-C08A-CE85-3DDB938A18B3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Limitations &amp; Future research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D0A90-7628-DB62-EA31-4BB2222D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DDB3A53-7A30-FF7E-1E69-FA621DE24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877CD20-8450-F6B2-9ABE-CEB18B049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96DE56-F850-3F2D-0845-0FEFBAF32C2B}"/>
              </a:ext>
            </a:extLst>
          </p:cNvPr>
          <p:cNvSpPr/>
          <p:nvPr/>
        </p:nvSpPr>
        <p:spPr>
          <a:xfrm>
            <a:off x="1484697" y="1649261"/>
            <a:ext cx="3166711" cy="11069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Training on abstracts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BCE389-38CC-7CAD-3124-80293C5494A1}"/>
              </a:ext>
            </a:extLst>
          </p:cNvPr>
          <p:cNvSpPr/>
          <p:nvPr/>
        </p:nvSpPr>
        <p:spPr>
          <a:xfrm>
            <a:off x="1484696" y="3340100"/>
            <a:ext cx="3166711" cy="11069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MeSH reliance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466640-F7BE-5338-3082-DAEAD1C83ECD}"/>
              </a:ext>
            </a:extLst>
          </p:cNvPr>
          <p:cNvSpPr/>
          <p:nvPr/>
        </p:nvSpPr>
        <p:spPr>
          <a:xfrm>
            <a:off x="1484696" y="5030939"/>
            <a:ext cx="3166711" cy="11069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English dominance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E834D9-6345-AC05-142E-82B0C39D9CAE}"/>
              </a:ext>
            </a:extLst>
          </p:cNvPr>
          <p:cNvSpPr/>
          <p:nvPr/>
        </p:nvSpPr>
        <p:spPr>
          <a:xfrm>
            <a:off x="7537801" y="1649261"/>
            <a:ext cx="3166711" cy="11069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More complex tags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E154E7-B184-1E0A-B490-F45E072A19B3}"/>
              </a:ext>
            </a:extLst>
          </p:cNvPr>
          <p:cNvSpPr/>
          <p:nvPr/>
        </p:nvSpPr>
        <p:spPr>
          <a:xfrm>
            <a:off x="7537800" y="3340100"/>
            <a:ext cx="3166711" cy="11069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Separate multi-disease label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1C4C8D-091F-0A01-DC29-F2EB3EEB1BB1}"/>
              </a:ext>
            </a:extLst>
          </p:cNvPr>
          <p:cNvSpPr/>
          <p:nvPr/>
        </p:nvSpPr>
        <p:spPr>
          <a:xfrm>
            <a:off x="7537800" y="5030939"/>
            <a:ext cx="3166711" cy="11069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Broader publication types</a:t>
            </a:r>
          </a:p>
          <a:p>
            <a:pPr algn="ctr"/>
            <a:r>
              <a:rPr lang="pl-PL" dirty="0"/>
              <a:t>News, courses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316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A47F-3385-F65A-952F-30A0CF90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AEB6C3-53D9-0D8C-F433-FBCC511D4C23}"/>
              </a:ext>
            </a:extLst>
          </p:cNvPr>
          <p:cNvSpPr txBox="1">
            <a:spLocks/>
          </p:cNvSpPr>
          <p:nvPr/>
        </p:nvSpPr>
        <p:spPr>
          <a:xfrm>
            <a:off x="87312" y="304979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Conclusions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B6C9D-1B92-CC40-CF78-156CEF898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63" y="263525"/>
            <a:ext cx="1596525" cy="5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A71346C-FC25-50C3-0337-50EC731A9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822" y="276337"/>
            <a:ext cx="1315341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F48C1EE-AF59-371A-F72C-CDFD59D65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646" y="261376"/>
            <a:ext cx="1315341" cy="52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566179-10DF-CFEA-DC9B-D5CFE9F0E3AF}"/>
              </a:ext>
            </a:extLst>
          </p:cNvPr>
          <p:cNvSpPr txBox="1"/>
          <p:nvPr/>
        </p:nvSpPr>
        <p:spPr>
          <a:xfrm>
            <a:off x="247650" y="1585899"/>
            <a:ext cx="7283450" cy="4424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Datasets / experiments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AI-Powered Content Management Pipelines definetly can support the operations of Info Platforms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2"/>
                </a:solidFill>
              </a:rPr>
              <a:t>Historical data scan + proof of concept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E50C19F-531F-0DF1-C206-6273C5306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8000"/>
                    </a14:imgEffect>
                    <a14:imgEffect>
                      <a14:brightnessContrast bright="13000" contras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814" y="2170410"/>
            <a:ext cx="4652536" cy="310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847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9563F-0F6B-15B9-8DA2-2A0CE8BB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858A4D-5D37-BE5A-2916-82956DF7AE6A}"/>
              </a:ext>
            </a:extLst>
          </p:cNvPr>
          <p:cNvSpPr txBox="1">
            <a:spLocks/>
          </p:cNvSpPr>
          <p:nvPr/>
        </p:nvSpPr>
        <p:spPr>
          <a:xfrm>
            <a:off x="787400" y="560566"/>
            <a:ext cx="1061720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enablers of the project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A6743-8CB9-9784-8214-E9AD5C6E3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63" y="1599955"/>
            <a:ext cx="3996732" cy="140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2B4C58A-8E41-DC9B-1ED0-B25469083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036" y="3967426"/>
            <a:ext cx="4136316" cy="160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9967FF6-A368-4C14-3699-4A94342A4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29" y="3790769"/>
            <a:ext cx="4460341" cy="178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white background with black text and red and black handshake&#10;&#10;AI-generated content may be incorrect.">
            <a:extLst>
              <a:ext uri="{FF2B5EF4-FFF2-40B4-BE49-F238E27FC236}">
                <a16:creationId xmlns:a16="http://schemas.microsoft.com/office/drawing/2014/main" id="{3A4449E2-1020-9FD0-D665-3C0A3C8AF6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43" b="28305"/>
          <a:stretch/>
        </p:blipFill>
        <p:spPr>
          <a:xfrm>
            <a:off x="6408820" y="1646073"/>
            <a:ext cx="4892749" cy="14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0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6FF19D566139498D5A5FD8DC8F2530" ma:contentTypeVersion="14" ma:contentTypeDescription="Een nieuw document maken." ma:contentTypeScope="" ma:versionID="b4ecd97cc2302fc74c1def5bfc657b21">
  <xsd:schema xmlns:xsd="http://www.w3.org/2001/XMLSchema" xmlns:xs="http://www.w3.org/2001/XMLSchema" xmlns:p="http://schemas.microsoft.com/office/2006/metadata/properties" xmlns:ns3="c7c82278-35bd-4170-b92a-88ef107fe17b" xmlns:ns4="455a5729-6985-46c8-9e9b-5533ba80a715" targetNamespace="http://schemas.microsoft.com/office/2006/metadata/properties" ma:root="true" ma:fieldsID="99a9d206f26edc6a2de0e2a8475fe157" ns3:_="" ns4:_="">
    <xsd:import namespace="c7c82278-35bd-4170-b92a-88ef107fe17b"/>
    <xsd:import namespace="455a5729-6985-46c8-9e9b-5533ba80a7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82278-35bd-4170-b92a-88ef107fe1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a5729-6985-46c8-9e9b-5533ba80a71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7c82278-35bd-4170-b92a-88ef107fe17b" xsi:nil="true"/>
  </documentManagement>
</p:properties>
</file>

<file path=customXml/itemProps1.xml><?xml version="1.0" encoding="utf-8"?>
<ds:datastoreItem xmlns:ds="http://schemas.openxmlformats.org/officeDocument/2006/customXml" ds:itemID="{DC4C7514-DBD8-4B19-81B7-68802C9160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82278-35bd-4170-b92a-88ef107fe17b"/>
    <ds:schemaRef ds:uri="455a5729-6985-46c8-9e9b-5533ba80a7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0DAC26-DE62-4B05-9281-148FD26FC4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496FAE-C57D-4430-AB88-199F913BF089}">
  <ds:schemaRefs>
    <ds:schemaRef ds:uri="http://schemas.microsoft.com/office/2006/metadata/properties"/>
    <ds:schemaRef ds:uri="http://purl.org/dc/elements/1.1/"/>
    <ds:schemaRef ds:uri="http://purl.org/dc/dcmitype/"/>
    <ds:schemaRef ds:uri="455a5729-6985-46c8-9e9b-5533ba80a715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c7c82278-35bd-4170-b92a-88ef107fe17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2189</TotalTime>
  <Words>1685</Words>
  <Application>Microsoft Office PowerPoint</Application>
  <PresentationFormat>Widescreen</PresentationFormat>
  <Paragraphs>392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Implementing  AI-Powered Content Management Pipelines  for Infolep and InfoNTD Knowledge Platforms</vt:lpstr>
      <vt:lpstr>The challenge of staying up to date</vt:lpstr>
      <vt:lpstr>The challenge of staying up to date</vt:lpstr>
      <vt:lpstr>Content curation is labour intensive</vt:lpstr>
      <vt:lpstr>Content curation is labour intensive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Hubert Perlinski</dc:creator>
  <cp:lastModifiedBy>Hubert Perlinski</cp:lastModifiedBy>
  <cp:revision>3</cp:revision>
  <dcterms:created xsi:type="dcterms:W3CDTF">2025-07-02T19:52:24Z</dcterms:created>
  <dcterms:modified xsi:type="dcterms:W3CDTF">2025-07-04T08:21:51Z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0x010100736FF19D566139498D5A5FD8DC8F2530</vt:lpwstr>
  </property>
</Properties>
</file>